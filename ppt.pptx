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1" r:id="rId2"/>
    <p:sldId id="258" r:id="rId3"/>
    <p:sldId id="259" r:id="rId4"/>
    <p:sldId id="260" r:id="rId5"/>
    <p:sldId id="264" r:id="rId6"/>
    <p:sldId id="263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4" autoAdjust="0"/>
  </p:normalViewPr>
  <p:slideViewPr>
    <p:cSldViewPr snapToGrid="0">
      <p:cViewPr varScale="1">
        <p:scale>
          <a:sx n="108" d="100"/>
          <a:sy n="108" d="100"/>
        </p:scale>
        <p:origin x="91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158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项目背景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144178" y="660401"/>
            <a:ext cx="402065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技术栈</a:t>
            </a:r>
            <a:endParaRPr lang="en-US" altLang="zh-CN" b="1" dirty="0"/>
          </a:p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模型接入： </a:t>
            </a:r>
            <a:r>
              <a:rPr lang="en-US" altLang="zh-CN" dirty="0" err="1"/>
              <a:t>Ollama</a:t>
            </a:r>
            <a:r>
              <a:rPr lang="en-US" altLang="zh-CN" dirty="0"/>
              <a:t>/</a:t>
            </a:r>
            <a:r>
              <a:rPr lang="en-US" altLang="zh-CN" dirty="0" err="1"/>
              <a:t>Openai</a:t>
            </a:r>
            <a:r>
              <a:rPr lang="en-US" altLang="zh-CN" dirty="0"/>
              <a:t> +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r>
              <a:rPr lang="en-US" altLang="zh-CN" dirty="0"/>
              <a:t> + MCP SDK</a:t>
            </a:r>
          </a:p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4A34E09-8BF0-64CF-6A7F-16F00ECE5B28}"/>
              </a:ext>
            </a:extLst>
          </p:cNvPr>
          <p:cNvSpPr txBox="1"/>
          <p:nvPr/>
        </p:nvSpPr>
        <p:spPr>
          <a:xfrm>
            <a:off x="184435" y="3904889"/>
            <a:ext cx="89825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项目简介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本项目是一个面向 </a:t>
            </a:r>
            <a:r>
              <a:rPr lang="en-US" altLang="zh-CN" dirty="0"/>
              <a:t>Steam </a:t>
            </a:r>
            <a:r>
              <a:rPr lang="zh-CN" altLang="en-US" dirty="0"/>
              <a:t>用户的本地 </a:t>
            </a:r>
            <a:r>
              <a:rPr lang="en-US" altLang="zh-CN" dirty="0"/>
              <a:t>AI </a:t>
            </a:r>
            <a:r>
              <a:rPr lang="zh-CN" altLang="en-US" dirty="0"/>
              <a:t>游戏助手系统，前端基于 </a:t>
            </a:r>
            <a:r>
              <a:rPr lang="en-US" altLang="zh-CN" dirty="0"/>
              <a:t>Vue 2 </a:t>
            </a:r>
            <a:r>
              <a:rPr lang="zh-CN" altLang="en-US" dirty="0"/>
              <a:t>构建交互界面，支持多用户档案切换、独立 </a:t>
            </a:r>
            <a:r>
              <a:rPr lang="en-US" altLang="zh-CN" dirty="0"/>
              <a:t>AI </a:t>
            </a:r>
            <a:r>
              <a:rPr lang="zh-CN" altLang="en-US" dirty="0"/>
              <a:t>配置、</a:t>
            </a:r>
            <a:r>
              <a:rPr lang="en-US" altLang="zh-CN" dirty="0"/>
              <a:t>Steam </a:t>
            </a:r>
            <a:r>
              <a:rPr lang="zh-CN" altLang="en-US" dirty="0"/>
              <a:t>数据概览和知识库管理；后端基于 </a:t>
            </a:r>
            <a:r>
              <a:rPr lang="en-US" altLang="zh-CN" dirty="0" err="1"/>
              <a:t>FastAPI</a:t>
            </a:r>
            <a:r>
              <a:rPr lang="en-US" altLang="zh-CN" dirty="0"/>
              <a:t> </a:t>
            </a:r>
            <a:r>
              <a:rPr lang="zh-CN" altLang="en-US" dirty="0"/>
              <a:t>提供用户资料、聊天、</a:t>
            </a:r>
            <a:r>
              <a:rPr lang="en-US" altLang="zh-CN" dirty="0"/>
              <a:t>Steam </a:t>
            </a:r>
            <a:r>
              <a:rPr lang="zh-CN" altLang="en-US" dirty="0"/>
              <a:t>数据和知识库接口，并通过 </a:t>
            </a:r>
            <a:r>
              <a:rPr lang="en-US" altLang="zh-CN" dirty="0" err="1"/>
              <a:t>LangChain</a:t>
            </a:r>
            <a:r>
              <a:rPr lang="zh-CN" altLang="en-US" dirty="0"/>
              <a:t>、</a:t>
            </a:r>
            <a:r>
              <a:rPr lang="en-US" altLang="zh-CN" dirty="0"/>
              <a:t>Chroma </a:t>
            </a:r>
            <a:r>
              <a:rPr lang="zh-CN" altLang="en-US" dirty="0"/>
              <a:t>与 </a:t>
            </a:r>
            <a:r>
              <a:rPr lang="en-US" altLang="zh-CN" dirty="0" err="1"/>
              <a:t>Ollama</a:t>
            </a:r>
            <a:r>
              <a:rPr lang="en-US" altLang="zh-CN" dirty="0"/>
              <a:t>/OpenAI-compatible </a:t>
            </a:r>
            <a:r>
              <a:rPr lang="zh-CN" altLang="en-US" dirty="0"/>
              <a:t>模型实现 </a:t>
            </a:r>
            <a:r>
              <a:rPr lang="en-US" altLang="zh-CN" dirty="0"/>
              <a:t>RAG </a:t>
            </a:r>
            <a:r>
              <a:rPr lang="zh-CN" altLang="en-US" dirty="0"/>
              <a:t>检索增强对话；同时项目内置 </a:t>
            </a:r>
            <a:r>
              <a:rPr lang="en-US" altLang="zh-CN" dirty="0"/>
              <a:t>TypeScript MCP Server</a:t>
            </a:r>
            <a:r>
              <a:rPr lang="zh-CN" altLang="en-US" dirty="0"/>
              <a:t>，将 </a:t>
            </a:r>
            <a:r>
              <a:rPr lang="en-US" altLang="zh-CN" dirty="0"/>
              <a:t>Steam Web API</a:t>
            </a:r>
            <a:r>
              <a:rPr lang="zh-CN" altLang="en-US" dirty="0"/>
              <a:t>、本地 </a:t>
            </a:r>
            <a:r>
              <a:rPr lang="en-US" altLang="zh-CN" dirty="0"/>
              <a:t>Steam </a:t>
            </a:r>
            <a:r>
              <a:rPr lang="zh-CN" altLang="en-US" dirty="0"/>
              <a:t>文件、商店、库存、好友和游戏启动能力封装为 </a:t>
            </a:r>
            <a:r>
              <a:rPr lang="en-US" altLang="zh-CN" dirty="0"/>
              <a:t>MCP </a:t>
            </a:r>
            <a:r>
              <a:rPr lang="zh-CN" altLang="en-US" dirty="0"/>
              <a:t>工具，使 </a:t>
            </a:r>
            <a:r>
              <a:rPr lang="en-US" altLang="zh-CN" dirty="0"/>
              <a:t>Agent </a:t>
            </a:r>
            <a:r>
              <a:rPr lang="zh-CN" altLang="en-US" dirty="0"/>
              <a:t>能在对话中按需调用真实 </a:t>
            </a:r>
            <a:r>
              <a:rPr lang="en-US" altLang="zh-CN" dirty="0"/>
              <a:t>Steam </a:t>
            </a:r>
            <a:r>
              <a:rPr lang="zh-CN" altLang="en-US" dirty="0"/>
              <a:t>数据与本地功能。</a:t>
            </a:r>
            <a:endParaRPr lang="en-US" altLang="zh-CN" b="1" dirty="0"/>
          </a:p>
          <a:p>
            <a:endParaRPr lang="zh-CN" alt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BFDA41F-DFF8-8ED6-CE98-55144ADD2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74" y="0"/>
            <a:ext cx="8011064" cy="4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  <a:r>
              <a:rPr lang="zh-CN" altLang="en-US" sz="1600" b="1" dirty="0">
                <a:solidFill>
                  <a:schemeClr val="tx1"/>
                </a:solidFill>
              </a:rPr>
              <a:t>编排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最终回答生成请求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77F089-CDE8-CB8D-589B-924F38557F66}"/>
              </a:ext>
            </a:extLst>
          </p:cNvPr>
          <p:cNvSpPr txBox="1"/>
          <p:nvPr/>
        </p:nvSpPr>
        <p:spPr>
          <a:xfrm>
            <a:off x="2233680" y="5370408"/>
            <a:ext cx="11336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返回工具</a:t>
            </a:r>
            <a:r>
              <a:rPr lang="zh-CN" altLang="en-US" sz="1000" dirty="0"/>
              <a:t>调用</a:t>
            </a:r>
            <a:r>
              <a:rPr lang="zh-CN" altLang="en-US" sz="900" dirty="0"/>
              <a:t>结果</a:t>
            </a:r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C5C3-4674-535B-A6FB-CBCC185BB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84685482-B22D-DE51-F648-4204DC8BACCE}"/>
              </a:ext>
            </a:extLst>
          </p:cNvPr>
          <p:cNvSpPr txBox="1"/>
          <p:nvPr/>
        </p:nvSpPr>
        <p:spPr>
          <a:xfrm>
            <a:off x="184434" y="108743"/>
            <a:ext cx="52293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800" b="1" dirty="0"/>
              <a:t>LoRA 微调 Steam 游戏助手模型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EFB9DB3D-2689-0390-53FD-FF4C06C242B0}"/>
              </a:ext>
            </a:extLst>
          </p:cNvPr>
          <p:cNvGrpSpPr/>
          <p:nvPr/>
        </p:nvGrpSpPr>
        <p:grpSpPr>
          <a:xfrm>
            <a:off x="7137990" y="2107339"/>
            <a:ext cx="4763386" cy="4058093"/>
            <a:chOff x="6204991" y="1813140"/>
            <a:chExt cx="5375588" cy="480719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A9429EF3-D9F7-8E74-1425-832C20308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4992" y="4979510"/>
              <a:ext cx="5375587" cy="1640824"/>
            </a:xfrm>
            <a:prstGeom prst="rect">
              <a:avLst/>
            </a:prstGeom>
          </p:spPr>
        </p:pic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ADF23153-5FDF-FFB9-131E-309A44657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844"/>
            <a:stretch>
              <a:fillRect/>
            </a:stretch>
          </p:blipFill>
          <p:spPr>
            <a:xfrm>
              <a:off x="6204991" y="1813140"/>
              <a:ext cx="5375587" cy="1259526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4D9FB3-B8D7-367B-67C0-7875505E6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04992" y="2976931"/>
              <a:ext cx="5375587" cy="2006381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3F07CF73-E7FB-A801-DB06-D3714C253E84}"/>
              </a:ext>
            </a:extLst>
          </p:cNvPr>
          <p:cNvSpPr txBox="1"/>
          <p:nvPr/>
        </p:nvSpPr>
        <p:spPr>
          <a:xfrm>
            <a:off x="184434" y="716221"/>
            <a:ext cx="7059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基于 Qwen2.5-7B 基座模型，利用 QLoRA 技术微调出兼具 </a:t>
            </a:r>
            <a:endParaRPr lang="en-US" altLang="zh-CN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游戏精灵语气风格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和 </a:t>
            </a:r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Steam MCP 工具调用能力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的个性化 AI 助手。</a:t>
            </a:r>
            <a:endParaRPr lang="zh-CN" altLang="en-US" dirty="0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C90C9DF5-3DDD-3B7D-EA42-5540F1F73C65}"/>
              </a:ext>
            </a:extLst>
          </p:cNvPr>
          <p:cNvGrpSpPr/>
          <p:nvPr/>
        </p:nvGrpSpPr>
        <p:grpSpPr>
          <a:xfrm>
            <a:off x="469959" y="1959192"/>
            <a:ext cx="5120640" cy="4206240"/>
            <a:chOff x="583373" y="1914274"/>
            <a:chExt cx="5120640" cy="4206240"/>
          </a:xfrm>
        </p:grpSpPr>
        <p:sp>
          <p:nvSpPr>
            <p:cNvPr id="12" name="Shape 5"/>
            <p:cNvSpPr/>
            <p:nvPr/>
          </p:nvSpPr>
          <p:spPr>
            <a:xfrm>
              <a:off x="583373" y="1914274"/>
              <a:ext cx="5120640" cy="4206240"/>
            </a:xfrm>
            <a:prstGeom prst="roundRect">
              <a:avLst>
                <a:gd name="adj" fmla="val 2174"/>
              </a:avLst>
            </a:prstGeom>
            <a:solidFill>
              <a:srgbClr val="F4F8FD"/>
            </a:solidFill>
            <a:effectLst>
              <a:outerShdw blurRad="114300" dist="38100" dir="54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13" name="Text 6"/>
            <p:cNvSpPr/>
            <p:nvPr/>
          </p:nvSpPr>
          <p:spPr>
            <a:xfrm>
              <a:off x="914400" y="201168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0B1F3A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训练 Loss 曲线</a:t>
              </a:r>
              <a:endParaRPr lang="en-US" sz="1500" dirty="0"/>
            </a:p>
          </p:txBody>
        </p:sp>
        <p:pic>
          <p:nvPicPr>
            <p:cNvPr id="14" name="Image 0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7693" y="2639070"/>
              <a:ext cx="4572000" cy="2722859"/>
            </a:xfrm>
            <a:prstGeom prst="rect">
              <a:avLst/>
            </a:prstGeom>
          </p:spPr>
        </p:pic>
        <p:sp>
          <p:nvSpPr>
            <p:cNvPr id="15" name="Text 7"/>
            <p:cNvSpPr/>
            <p:nvPr/>
          </p:nvSpPr>
          <p:spPr>
            <a:xfrm>
              <a:off x="914400" y="5623560"/>
              <a:ext cx="4572000" cy="32004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Loss 由 ~3.6 </a:t>
              </a:r>
              <a:r>
                <a:rPr lang="en-US" sz="1100" i="1" dirty="0" err="1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稳定收敛至</a:t>
              </a: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 ~1.94，训练正常</a:t>
              </a:r>
              <a:endParaRPr lang="en-US" sz="1100" dirty="0"/>
            </a:p>
          </p:txBody>
        </p:sp>
      </p:grpSp>
      <p:sp>
        <p:nvSpPr>
          <p:cNvPr id="17" name="Text 8">
            <a:extLst>
              <a:ext uri="{FF2B5EF4-FFF2-40B4-BE49-F238E27FC236}">
                <a16:creationId xmlns:a16="http://schemas.microsoft.com/office/drawing/2014/main" id="{DC572E22-A166-C09C-C4D2-3623FC168CB9}"/>
              </a:ext>
            </a:extLst>
          </p:cNvPr>
          <p:cNvSpPr/>
          <p:nvPr/>
        </p:nvSpPr>
        <p:spPr>
          <a:xfrm>
            <a:off x="5704013" y="1959192"/>
            <a:ext cx="19735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微调后问答效果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593844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27382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不足和未来工作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45BED0-BB45-EBD2-7872-FCC75BEBE160}"/>
              </a:ext>
            </a:extLst>
          </p:cNvPr>
          <p:cNvSpPr txBox="1"/>
          <p:nvPr/>
        </p:nvSpPr>
        <p:spPr>
          <a:xfrm>
            <a:off x="144178" y="782128"/>
            <a:ext cx="1090555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完善上下文 </a:t>
            </a:r>
            <a:r>
              <a:rPr lang="en-US" altLang="zh-CN" dirty="0"/>
              <a:t>token </a:t>
            </a:r>
            <a:r>
              <a:rPr lang="zh-CN" altLang="en-US" dirty="0"/>
              <a:t>管理：当前 </a:t>
            </a:r>
            <a:r>
              <a:rPr lang="en-US" altLang="zh-CN" dirty="0"/>
              <a:t>token </a:t>
            </a:r>
            <a:r>
              <a:rPr lang="zh-CN" altLang="en-US" dirty="0"/>
              <a:t>预算主要覆盖用户问题、历史消息与知识库上下文，后续可将工具</a:t>
            </a:r>
            <a:endParaRPr lang="en-US" altLang="zh-CN" dirty="0"/>
          </a:p>
          <a:p>
            <a:r>
              <a:rPr lang="zh-CN" altLang="en-US" dirty="0"/>
              <a:t>定义、工具调用参数和工具返回结果也纳入统一预算控制。</a:t>
            </a:r>
          </a:p>
          <a:p>
            <a:endParaRPr lang="zh-CN" altLang="en-US" dirty="0"/>
          </a:p>
          <a:p>
            <a:r>
              <a:rPr lang="en-US" altLang="zh-CN" dirty="0"/>
              <a:t>2. </a:t>
            </a:r>
            <a:r>
              <a:rPr lang="zh-CN" altLang="en-US" dirty="0"/>
              <a:t>增强 </a:t>
            </a:r>
            <a:r>
              <a:rPr lang="en-US" altLang="zh-CN" dirty="0"/>
              <a:t>Agent </a:t>
            </a:r>
            <a:r>
              <a:rPr lang="zh-CN" altLang="en-US" dirty="0"/>
              <a:t>推理框架：后续可引入 </a:t>
            </a:r>
            <a:r>
              <a:rPr lang="en-US" altLang="zh-CN" dirty="0" err="1"/>
              <a:t>ReAct</a:t>
            </a:r>
            <a:r>
              <a:rPr lang="zh-CN" altLang="en-US" dirty="0"/>
              <a:t>、</a:t>
            </a:r>
            <a:r>
              <a:rPr lang="en-US" altLang="zh-CN" dirty="0" err="1"/>
              <a:t>CoT</a:t>
            </a:r>
            <a:r>
              <a:rPr lang="en-US" altLang="zh-CN" dirty="0"/>
              <a:t> </a:t>
            </a:r>
            <a:r>
              <a:rPr lang="zh-CN" altLang="en-US" dirty="0"/>
              <a:t>或更结构化的多步规划机制，提高复杂任务下的工具选</a:t>
            </a:r>
            <a:endParaRPr lang="en-US" altLang="zh-CN" dirty="0"/>
          </a:p>
          <a:p>
            <a:r>
              <a:rPr lang="zh-CN" altLang="en-US" dirty="0"/>
              <a:t>择、调用顺序和错误恢复能力。</a:t>
            </a:r>
          </a:p>
          <a:p>
            <a:endParaRPr lang="zh-CN" altLang="en-US" dirty="0"/>
          </a:p>
          <a:p>
            <a:r>
              <a:rPr lang="en-US" altLang="zh-CN" dirty="0"/>
              <a:t>3. </a:t>
            </a:r>
            <a:r>
              <a:rPr lang="zh-CN" altLang="en-US" dirty="0"/>
              <a:t>提升本地数据安全：对本地保存的 </a:t>
            </a:r>
            <a:r>
              <a:rPr lang="en-US" altLang="zh-CN" dirty="0"/>
              <a:t>API Key</a:t>
            </a:r>
            <a:r>
              <a:rPr lang="zh-CN" altLang="en-US" dirty="0"/>
              <a:t>、</a:t>
            </a:r>
            <a:r>
              <a:rPr lang="en-US" altLang="zh-CN" dirty="0"/>
              <a:t>Steam Key</a:t>
            </a:r>
            <a:r>
              <a:rPr lang="zh-CN" altLang="en-US" dirty="0"/>
              <a:t>、用户配置和聊天历史进行加密存储，并完善敏</a:t>
            </a:r>
            <a:endParaRPr lang="en-US" altLang="zh-CN" dirty="0"/>
          </a:p>
          <a:p>
            <a:r>
              <a:rPr lang="zh-CN" altLang="en-US" dirty="0"/>
              <a:t>感日志脱敏机制。</a:t>
            </a:r>
          </a:p>
          <a:p>
            <a:endParaRPr lang="zh-CN" altLang="en-US" dirty="0"/>
          </a:p>
          <a:p>
            <a:r>
              <a:rPr lang="en-US" altLang="zh-CN" dirty="0"/>
              <a:t>4. </a:t>
            </a:r>
            <a:r>
              <a:rPr lang="zh-CN" altLang="en-US" dirty="0"/>
              <a:t>完善工程化能力：补充自动化测试、端到端测试、</a:t>
            </a:r>
            <a:r>
              <a:rPr lang="en-US" altLang="zh-CN" dirty="0"/>
              <a:t>CI/CD</a:t>
            </a:r>
            <a:r>
              <a:rPr lang="zh-CN" altLang="en-US" dirty="0"/>
              <a:t>、</a:t>
            </a:r>
            <a:r>
              <a:rPr lang="en-US" altLang="zh-CN" dirty="0"/>
              <a:t>Docker Compose </a:t>
            </a:r>
            <a:r>
              <a:rPr lang="zh-CN" altLang="en-US" dirty="0"/>
              <a:t>一键启动，以及前后端与 </a:t>
            </a:r>
            <a:endParaRPr lang="en-US" altLang="zh-CN" dirty="0"/>
          </a:p>
          <a:p>
            <a:r>
              <a:rPr lang="en-US" altLang="zh-CN" dirty="0"/>
              <a:t>MCP Server </a:t>
            </a:r>
            <a:r>
              <a:rPr lang="zh-CN" altLang="en-US" dirty="0"/>
              <a:t>的健康检查和日志面板。</a:t>
            </a:r>
          </a:p>
        </p:txBody>
      </p:sp>
    </p:spTree>
    <p:extLst>
      <p:ext uri="{BB962C8B-B14F-4D97-AF65-F5344CB8AC3E}">
        <p14:creationId xmlns:p14="http://schemas.microsoft.com/office/powerpoint/2010/main" val="1661350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分工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2FAB2B6-64A7-D176-A4A0-EB5162B4747D}"/>
              </a:ext>
            </a:extLst>
          </p:cNvPr>
          <p:cNvSpPr txBox="1"/>
          <p:nvPr/>
        </p:nvSpPr>
        <p:spPr>
          <a:xfrm>
            <a:off x="144178" y="897147"/>
            <a:ext cx="3092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卢昭阳：前后端，</a:t>
            </a:r>
            <a:r>
              <a:rPr lang="en-US" altLang="zh-CN" dirty="0"/>
              <a:t>Agent</a:t>
            </a:r>
            <a:r>
              <a:rPr lang="zh-CN" altLang="en-US" dirty="0"/>
              <a:t>开发</a:t>
            </a:r>
          </a:p>
        </p:txBody>
      </p:sp>
    </p:spTree>
    <p:extLst>
      <p:ext uri="{BB962C8B-B14F-4D97-AF65-F5344CB8AC3E}">
        <p14:creationId xmlns:p14="http://schemas.microsoft.com/office/powerpoint/2010/main" val="1298528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731</Words>
  <Application>Microsoft Office PowerPoint</Application>
  <PresentationFormat>宽屏</PresentationFormat>
  <Paragraphs>115</Paragraphs>
  <Slides>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Helvetica Neue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佳乐 朱</cp:lastModifiedBy>
  <cp:revision>11</cp:revision>
  <dcterms:created xsi:type="dcterms:W3CDTF">2026-06-15T07:34:43Z</dcterms:created>
  <dcterms:modified xsi:type="dcterms:W3CDTF">2026-06-17T05:01:46Z</dcterms:modified>
</cp:coreProperties>
</file>