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1" r:id="rId2"/>
    <p:sldId id="258" r:id="rId3"/>
    <p:sldId id="259" r:id="rId4"/>
    <p:sldId id="260" r:id="rId5"/>
    <p:sldId id="266" r:id="rId6"/>
    <p:sldId id="264" r:id="rId7"/>
    <p:sldId id="265" r:id="rId8"/>
    <p:sldId id="263" r:id="rId9"/>
    <p:sldId id="262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E608D"/>
    <a:srgbClr val="8CBF87"/>
    <a:srgbClr val="CB9475"/>
    <a:srgbClr val="4E1947"/>
    <a:srgbClr val="909291"/>
    <a:srgbClr val="8D2F25"/>
    <a:srgbClr val="FFFFFF"/>
    <a:srgbClr val="CC7C71"/>
    <a:srgbClr val="E29135"/>
    <a:srgbClr val="7E99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404" autoAdjust="0"/>
  </p:normalViewPr>
  <p:slideViewPr>
    <p:cSldViewPr snapToGrid="0">
      <p:cViewPr varScale="1">
        <p:scale>
          <a:sx n="111" d="100"/>
          <a:sy n="111" d="100"/>
        </p:scale>
        <p:origin x="104" y="4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9A81FB-4F36-465C-B86A-31257373A925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DB8E75-8AA8-43C4-8332-1EA0F48839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70091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DB8E75-8AA8-43C4-8332-1EA0F488397E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18815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DB8E75-8AA8-43C4-8332-1EA0F488397E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40497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DB8E75-8AA8-43C4-8332-1EA0F488397E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41582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E19770-90C6-67F1-9195-0B4892E13B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035C90B-A18C-585C-EA46-F5E1867A22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6DCB8D6-ACF3-FF34-31A2-EEB5E47B1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61C6D-70BF-46ED-B910-0A67E38F5F77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AA38FC5-9BBB-DEB6-B67F-AE93813C0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8CAAB58-4707-ACAA-0F14-B06ADA9A2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97D7E-AEB5-42FE-B3F6-2AB8C4DA45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0617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EB7962-D87D-55F6-47DB-3448B4BDB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CE4976A-A93F-8EE3-183B-82E69BC1BF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BA0EA9A-5B55-4ED2-EB19-8E3F7F130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61C6D-70BF-46ED-B910-0A67E38F5F77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4BE9121-9677-2FCC-8A50-8221BEBEF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A9B6E87-F02D-1969-B459-6DE6F1D6D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97D7E-AEB5-42FE-B3F6-2AB8C4DA45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093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D8EC8A-0115-AAE8-0CD0-BEA9A78BD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FF781ED-0AE9-BB56-DB89-B30E32141A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08FA371-D3BD-2CC4-A187-1183B7602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61C6D-70BF-46ED-B910-0A67E38F5F77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3C5701E-5228-05E9-AE47-03C870769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B3A69EC-01EA-B8DB-26FA-80DD4FF5C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97D7E-AEB5-42FE-B3F6-2AB8C4DA45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0274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977E40-800E-6232-20EC-8AA6E9EB0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64BDAD5-C52A-5290-E8FC-78D946E398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948F0CC-FCED-6A56-9B4E-309C07DF08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A426BB8-AB1E-DEC4-3DAB-CB95184E86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61C6D-70BF-46ED-B910-0A67E38F5F77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2798542-12E2-AC40-75FA-12CEAB727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1BB571F-CE1B-459F-2E4C-7CEAC82BA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97D7E-AEB5-42FE-B3F6-2AB8C4DA45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09501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094FD9-D85B-A496-5A22-FA4787586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9E00A0F-0099-86A1-8F19-6BB5535903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06743C4-F325-1699-A7BF-86A130303D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BA38FC1-D255-0C49-C6B0-91461FECDF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8DB671A-5B91-E07C-8514-92944D1B01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778511A-317F-C03D-0431-4A7DDAD56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61C6D-70BF-46ED-B910-0A67E38F5F77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CAB19FA-906F-6EC5-D352-A5AA26859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A074C29-6ECC-C0DE-CE8D-A33EC0354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97D7E-AEB5-42FE-B3F6-2AB8C4DA45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47364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18C061-52E9-EF36-E30F-4C8CBD34E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8E1714F-F87E-7D84-0DBD-E50E814E1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61C6D-70BF-46ED-B910-0A67E38F5F77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519CBA3-5E0E-A9D2-74F9-4D4FF4B3B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A58BCE4-7F1E-2019-D8C5-487A94DB5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97D7E-AEB5-42FE-B3F6-2AB8C4DA45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72002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33C3474-92DA-6E9C-79F9-26F3FCD05A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61C6D-70BF-46ED-B910-0A67E38F5F77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C28F378-5BFD-900F-CE12-E399AC3A2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1DCC419-12B7-9540-DC04-5106B8B54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97D7E-AEB5-42FE-B3F6-2AB8C4DA45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07911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3901D0-9CDC-83FF-8E63-7259538504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26A5474-D91D-2A45-1D36-4B761BB038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2575917-71F6-F934-45A2-47B2B6B4B4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3914D67-FA23-B438-BEF2-452290791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61C6D-70BF-46ED-B910-0A67E38F5F77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E9B5382-2597-3238-4689-66A6C271D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C05D9FD-31AA-CE7E-531B-BAD01A9B1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97D7E-AEB5-42FE-B3F6-2AB8C4DA45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51137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12641D-55FD-3448-EFD6-5E27875E52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4B6EC4F-94F9-AD19-42A8-2D4AD8A99A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AD642FA-ED77-59EC-47B4-BFD352BCF2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D456799-B9B0-E143-A980-C59216609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61C6D-70BF-46ED-B910-0A67E38F5F77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AA50571-E23F-B8D4-877B-DC7147F9D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379E3D4-F513-72F1-6E95-47402B2FB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97D7E-AEB5-42FE-B3F6-2AB8C4DA45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31019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2E0069-5582-99B5-C84E-59E009F19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12FC1B1-9CE4-A215-E1BC-D5BFDB077E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2F3BE2-BFE7-9851-A47C-353C42E12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61C6D-70BF-46ED-B910-0A67E38F5F77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A555263-8B5B-D301-F246-7FF613F6E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2655943-74E1-4B59-731B-A0DC1F844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97D7E-AEB5-42FE-B3F6-2AB8C4DA45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45389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C65E2FA-6CD9-8C37-30F3-FEBD89C394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7C412FD-A98B-33C2-B294-09C1F42EE3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026DE92-2AAB-F620-1699-D568896ED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61C6D-70BF-46ED-B910-0A67E38F5F77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F9928EC-120D-958F-72B1-DD5899DA1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779DB7-016A-1A70-40AF-DB7EEFB1C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97D7E-AEB5-42FE-B3F6-2AB8C4DA45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10672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CC6673A-D9F3-904B-78D9-A584F2C4B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0763F3D-F584-D3EB-E8DD-F2338D7463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2D22AB3-66C5-F73D-7FC9-661A861A7D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261C6D-70BF-46ED-B910-0A67E38F5F77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763539B-5D62-4427-E472-F1AC5A1301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8ECFC03-268E-C9BD-F7F2-E4B28E826E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197D7E-AEB5-42FE-B3F6-2AB8C4DA45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93652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文本框 29">
            <a:extLst>
              <a:ext uri="{FF2B5EF4-FFF2-40B4-BE49-F238E27FC236}">
                <a16:creationId xmlns:a16="http://schemas.microsoft.com/office/drawing/2014/main" id="{476DCF06-EF95-9693-64DC-5141597B674E}"/>
              </a:ext>
            </a:extLst>
          </p:cNvPr>
          <p:cNvSpPr txBox="1"/>
          <p:nvPr/>
        </p:nvSpPr>
        <p:spPr>
          <a:xfrm>
            <a:off x="144178" y="93626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项目背景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4FE3A2C-DEE2-451E-2E2C-04B69DB3F9E0}"/>
              </a:ext>
            </a:extLst>
          </p:cNvPr>
          <p:cNvSpPr txBox="1"/>
          <p:nvPr/>
        </p:nvSpPr>
        <p:spPr>
          <a:xfrm>
            <a:off x="144178" y="660401"/>
            <a:ext cx="4020652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技术栈</a:t>
            </a:r>
            <a:endParaRPr lang="en-US" altLang="zh-CN" b="1" dirty="0"/>
          </a:p>
          <a:p>
            <a:r>
              <a:rPr lang="zh-CN" altLang="en-US" dirty="0"/>
              <a:t>前端：</a:t>
            </a:r>
            <a:r>
              <a:rPr lang="en-US" altLang="zh-CN" dirty="0"/>
              <a:t>Vue 2+Less+axios</a:t>
            </a:r>
          </a:p>
          <a:p>
            <a:r>
              <a:rPr lang="zh-CN" altLang="en-US" dirty="0"/>
              <a:t>后端：</a:t>
            </a:r>
            <a:r>
              <a:rPr lang="en-US" altLang="zh-CN" dirty="0"/>
              <a:t>Python </a:t>
            </a:r>
            <a:r>
              <a:rPr lang="en-US" altLang="zh-CN" dirty="0" err="1"/>
              <a:t>FastAPI+Uvicorn</a:t>
            </a:r>
            <a:endParaRPr lang="en-US" altLang="zh-CN" dirty="0"/>
          </a:p>
          <a:p>
            <a:r>
              <a:rPr lang="en-US" altLang="zh-CN" dirty="0"/>
              <a:t>Agent</a:t>
            </a:r>
            <a:r>
              <a:rPr lang="zh-CN" altLang="en-US" dirty="0"/>
              <a:t>：</a:t>
            </a:r>
            <a:r>
              <a:rPr lang="en-US" altLang="zh-CN" dirty="0"/>
              <a:t>Python </a:t>
            </a:r>
            <a:r>
              <a:rPr lang="en-US" altLang="zh-CN" dirty="0" err="1"/>
              <a:t>langchain</a:t>
            </a:r>
            <a:endParaRPr lang="en-US" altLang="zh-CN" dirty="0"/>
          </a:p>
          <a:p>
            <a:r>
              <a:rPr lang="zh-CN" altLang="en-US" dirty="0"/>
              <a:t>模型接入： </a:t>
            </a:r>
            <a:r>
              <a:rPr lang="en-US" altLang="zh-CN" dirty="0" err="1"/>
              <a:t>Ollama</a:t>
            </a:r>
            <a:r>
              <a:rPr lang="en-US" altLang="zh-CN" dirty="0"/>
              <a:t>/</a:t>
            </a:r>
            <a:r>
              <a:rPr lang="en-US" altLang="zh-CN" dirty="0" err="1"/>
              <a:t>Openai</a:t>
            </a:r>
            <a:r>
              <a:rPr lang="en-US" altLang="zh-CN" dirty="0"/>
              <a:t> + </a:t>
            </a:r>
            <a:r>
              <a:rPr lang="en-US" altLang="zh-CN" dirty="0" err="1"/>
              <a:t>LoRA</a:t>
            </a:r>
            <a:endParaRPr lang="en-US" altLang="zh-CN" dirty="0"/>
          </a:p>
          <a:p>
            <a:r>
              <a:rPr lang="en-US" altLang="zh-CN" dirty="0"/>
              <a:t>MCP</a:t>
            </a:r>
            <a:r>
              <a:rPr lang="zh-CN" altLang="en-US" dirty="0"/>
              <a:t>：</a:t>
            </a:r>
            <a:r>
              <a:rPr lang="en-US" altLang="zh-CN" dirty="0" err="1"/>
              <a:t>Typescript+NodeJS</a:t>
            </a:r>
            <a:r>
              <a:rPr lang="en-US" altLang="zh-CN" dirty="0"/>
              <a:t> + MCP SDK</a:t>
            </a:r>
          </a:p>
          <a:p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4A34E09-8BF0-64CF-6A7F-16F00ECE5B28}"/>
              </a:ext>
            </a:extLst>
          </p:cNvPr>
          <p:cNvSpPr txBox="1"/>
          <p:nvPr/>
        </p:nvSpPr>
        <p:spPr>
          <a:xfrm>
            <a:off x="184435" y="3904889"/>
            <a:ext cx="898256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项目简介</a:t>
            </a:r>
            <a:endParaRPr lang="en-US" altLang="zh-CN" b="1" dirty="0"/>
          </a:p>
          <a:p>
            <a:endParaRPr lang="en-US" altLang="zh-CN" b="1" dirty="0"/>
          </a:p>
          <a:p>
            <a:r>
              <a:rPr lang="zh-CN" altLang="en-US" dirty="0"/>
              <a:t>本项目是一个面向 </a:t>
            </a:r>
            <a:r>
              <a:rPr lang="en-US" altLang="zh-CN" dirty="0"/>
              <a:t>Steam </a:t>
            </a:r>
            <a:r>
              <a:rPr lang="zh-CN" altLang="en-US" dirty="0"/>
              <a:t>用户的</a:t>
            </a:r>
            <a:r>
              <a:rPr lang="zh-CN" altLang="en-US" b="1" dirty="0"/>
              <a:t>本地 </a:t>
            </a:r>
            <a:r>
              <a:rPr lang="en-US" altLang="zh-CN" b="1" dirty="0"/>
              <a:t>AI </a:t>
            </a:r>
            <a:r>
              <a:rPr lang="zh-CN" altLang="en-US" b="1" dirty="0"/>
              <a:t>游戏助手系统</a:t>
            </a:r>
            <a:r>
              <a:rPr lang="zh-CN" altLang="en-US" dirty="0"/>
              <a:t>，前端基于 </a:t>
            </a:r>
            <a:r>
              <a:rPr lang="en-US" altLang="zh-CN" b="1" dirty="0"/>
              <a:t>Vue 2</a:t>
            </a:r>
            <a:r>
              <a:rPr lang="en-US" altLang="zh-CN" dirty="0"/>
              <a:t> </a:t>
            </a:r>
            <a:r>
              <a:rPr lang="zh-CN" altLang="en-US" dirty="0"/>
              <a:t>构建交互界面，支持多用户档案切换、独立 </a:t>
            </a:r>
            <a:r>
              <a:rPr lang="en-US" altLang="zh-CN" dirty="0"/>
              <a:t>AI </a:t>
            </a:r>
            <a:r>
              <a:rPr lang="zh-CN" altLang="en-US" dirty="0"/>
              <a:t>配置、</a:t>
            </a:r>
            <a:r>
              <a:rPr lang="en-US" altLang="zh-CN" dirty="0"/>
              <a:t>Steam </a:t>
            </a:r>
            <a:r>
              <a:rPr lang="zh-CN" altLang="en-US" dirty="0"/>
              <a:t>数据概览和知识库管理；后端基于 </a:t>
            </a:r>
            <a:r>
              <a:rPr lang="en-US" altLang="zh-CN" b="1" dirty="0" err="1"/>
              <a:t>FastAPI</a:t>
            </a:r>
            <a:r>
              <a:rPr lang="en-US" altLang="zh-CN" dirty="0"/>
              <a:t> </a:t>
            </a:r>
            <a:r>
              <a:rPr lang="zh-CN" altLang="en-US" dirty="0"/>
              <a:t>提供用户资料、聊天、</a:t>
            </a:r>
            <a:r>
              <a:rPr lang="en-US" altLang="zh-CN" dirty="0"/>
              <a:t>Steam </a:t>
            </a:r>
            <a:r>
              <a:rPr lang="zh-CN" altLang="en-US" dirty="0"/>
              <a:t>数据和知识库接口，并通过 </a:t>
            </a:r>
            <a:r>
              <a:rPr lang="en-US" altLang="zh-CN" b="1" dirty="0" err="1"/>
              <a:t>LangChain</a:t>
            </a:r>
            <a:r>
              <a:rPr lang="zh-CN" altLang="en-US" dirty="0"/>
              <a:t>、</a:t>
            </a:r>
            <a:r>
              <a:rPr lang="en-US" altLang="zh-CN" dirty="0"/>
              <a:t>Chroma </a:t>
            </a:r>
            <a:r>
              <a:rPr lang="zh-CN" altLang="en-US" dirty="0"/>
              <a:t>与 </a:t>
            </a:r>
            <a:r>
              <a:rPr lang="en-US" altLang="zh-CN" dirty="0" err="1"/>
              <a:t>Ollama</a:t>
            </a:r>
            <a:r>
              <a:rPr lang="en-US" altLang="zh-CN" dirty="0"/>
              <a:t>/OpenAI-compatible </a:t>
            </a:r>
            <a:r>
              <a:rPr lang="zh-CN" altLang="en-US" dirty="0"/>
              <a:t>模型实现 </a:t>
            </a:r>
            <a:r>
              <a:rPr lang="en-US" altLang="zh-CN" b="1" dirty="0"/>
              <a:t>RAG</a:t>
            </a:r>
            <a:r>
              <a:rPr lang="en-US" altLang="zh-CN" dirty="0"/>
              <a:t> </a:t>
            </a:r>
            <a:r>
              <a:rPr lang="zh-CN" altLang="en-US" dirty="0"/>
              <a:t>检索增强对话；同时项目内置 </a:t>
            </a:r>
            <a:r>
              <a:rPr lang="en-US" altLang="zh-CN" dirty="0"/>
              <a:t>TypeScript </a:t>
            </a:r>
            <a:r>
              <a:rPr lang="en-US" altLang="zh-CN" b="1" dirty="0"/>
              <a:t>MCP Server</a:t>
            </a:r>
            <a:r>
              <a:rPr lang="zh-CN" altLang="en-US" dirty="0"/>
              <a:t>，将 </a:t>
            </a:r>
            <a:r>
              <a:rPr lang="en-US" altLang="zh-CN" dirty="0"/>
              <a:t>Steam Web API</a:t>
            </a:r>
            <a:r>
              <a:rPr lang="zh-CN" altLang="en-US" dirty="0"/>
              <a:t>、本地 </a:t>
            </a:r>
            <a:r>
              <a:rPr lang="en-US" altLang="zh-CN" dirty="0"/>
              <a:t>Steam </a:t>
            </a:r>
            <a:r>
              <a:rPr lang="zh-CN" altLang="en-US" dirty="0"/>
              <a:t>文件、商店、库存、好友和游戏启动能力封装为 </a:t>
            </a:r>
            <a:r>
              <a:rPr lang="en-US" altLang="zh-CN" dirty="0"/>
              <a:t>MCP </a:t>
            </a:r>
            <a:r>
              <a:rPr lang="zh-CN" altLang="en-US" dirty="0"/>
              <a:t>工具，使 </a:t>
            </a:r>
            <a:r>
              <a:rPr lang="en-US" altLang="zh-CN" dirty="0"/>
              <a:t>Agent </a:t>
            </a:r>
            <a:r>
              <a:rPr lang="zh-CN" altLang="en-US" dirty="0"/>
              <a:t>能在对话中按需调用真实 </a:t>
            </a:r>
            <a:r>
              <a:rPr lang="en-US" altLang="zh-CN" dirty="0"/>
              <a:t>Steam </a:t>
            </a:r>
            <a:r>
              <a:rPr lang="zh-CN" altLang="en-US" dirty="0"/>
              <a:t>数据与本地功能。</a:t>
            </a:r>
            <a:endParaRPr lang="en-US" altLang="zh-CN" b="1" dirty="0"/>
          </a:p>
          <a:p>
            <a:endParaRPr lang="zh-CN" altLang="en-US" b="1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BFDA41F-DFF8-8ED6-CE98-55144ADD23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6174" y="0"/>
            <a:ext cx="8011064" cy="4158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4813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777FDB37-59A1-FA10-2E15-AC5E826FECB6}"/>
              </a:ext>
            </a:extLst>
          </p:cNvPr>
          <p:cNvSpPr/>
          <p:nvPr/>
        </p:nvSpPr>
        <p:spPr>
          <a:xfrm>
            <a:off x="1650521" y="1155940"/>
            <a:ext cx="1892060" cy="776377"/>
          </a:xfrm>
          <a:prstGeom prst="rect">
            <a:avLst/>
          </a:prstGeom>
          <a:solidFill>
            <a:srgbClr val="BADAB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后端</a:t>
            </a:r>
            <a:r>
              <a:rPr lang="en-US" altLang="zh-CN" b="1" dirty="0">
                <a:solidFill>
                  <a:schemeClr val="tx1"/>
                </a:solidFill>
              </a:rPr>
              <a:t>API</a:t>
            </a:r>
          </a:p>
          <a:p>
            <a:pPr algn="ctr"/>
            <a:r>
              <a:rPr lang="en-US" altLang="zh-CN" sz="900" b="1" dirty="0">
                <a:solidFill>
                  <a:schemeClr val="tx1"/>
                </a:solidFill>
              </a:rPr>
              <a:t>/Agent/server.py</a:t>
            </a:r>
            <a:endParaRPr lang="zh-CN" altLang="en-US" sz="900" b="1" dirty="0">
              <a:solidFill>
                <a:schemeClr val="tx1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57AF762-F889-E32E-3185-BAC6361B4371}"/>
              </a:ext>
            </a:extLst>
          </p:cNvPr>
          <p:cNvSpPr/>
          <p:nvPr/>
        </p:nvSpPr>
        <p:spPr>
          <a:xfrm>
            <a:off x="1650521" y="3844506"/>
            <a:ext cx="1892060" cy="776377"/>
          </a:xfrm>
          <a:prstGeom prst="rect">
            <a:avLst/>
          </a:prstGeom>
          <a:solidFill>
            <a:srgbClr val="BADAB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前端请求封装</a:t>
            </a:r>
            <a:endParaRPr lang="en-US" altLang="zh-CN" b="1" dirty="0">
              <a:solidFill>
                <a:schemeClr val="tx1"/>
              </a:solidFill>
            </a:endParaRPr>
          </a:p>
          <a:p>
            <a:pPr algn="ctr"/>
            <a:r>
              <a:rPr lang="en-US" altLang="zh-CN" sz="900" b="1" dirty="0">
                <a:solidFill>
                  <a:schemeClr val="tx1"/>
                </a:solidFill>
              </a:rPr>
              <a:t>/frontend/</a:t>
            </a:r>
            <a:r>
              <a:rPr lang="en-US" altLang="zh-CN" sz="900" b="1" dirty="0" err="1">
                <a:solidFill>
                  <a:schemeClr val="tx1"/>
                </a:solidFill>
              </a:rPr>
              <a:t>src</a:t>
            </a:r>
            <a:r>
              <a:rPr lang="en-US" altLang="zh-CN" sz="900" b="1" dirty="0">
                <a:solidFill>
                  <a:schemeClr val="tx1"/>
                </a:solidFill>
              </a:rPr>
              <a:t>/</a:t>
            </a:r>
            <a:r>
              <a:rPr lang="en-US" altLang="zh-CN" sz="900" b="1" dirty="0" err="1">
                <a:solidFill>
                  <a:schemeClr val="tx1"/>
                </a:solidFill>
              </a:rPr>
              <a:t>api</a:t>
            </a:r>
            <a:r>
              <a:rPr lang="en-US" altLang="zh-CN" sz="900" b="1" dirty="0">
                <a:solidFill>
                  <a:schemeClr val="tx1"/>
                </a:solidFill>
              </a:rPr>
              <a:t>/api.js</a:t>
            </a:r>
            <a:endParaRPr lang="zh-CN" altLang="en-US" sz="900" b="1" dirty="0">
              <a:solidFill>
                <a:schemeClr val="tx1"/>
              </a:solidFill>
            </a:endParaRPr>
          </a:p>
        </p:txBody>
      </p:sp>
      <p:cxnSp>
        <p:nvCxnSpPr>
          <p:cNvPr id="7" name="连接符: 肘形 6">
            <a:extLst>
              <a:ext uri="{FF2B5EF4-FFF2-40B4-BE49-F238E27FC236}">
                <a16:creationId xmlns:a16="http://schemas.microsoft.com/office/drawing/2014/main" id="{4087FE4E-D04A-8984-F1A2-F48F9A01952D}"/>
              </a:ext>
            </a:extLst>
          </p:cNvPr>
          <p:cNvCxnSpPr>
            <a:cxnSpLocks/>
            <a:stCxn id="4" idx="1"/>
            <a:endCxn id="5" idx="1"/>
          </p:cNvCxnSpPr>
          <p:nvPr/>
        </p:nvCxnSpPr>
        <p:spPr>
          <a:xfrm rot="10800000" flipV="1">
            <a:off x="1650521" y="1544129"/>
            <a:ext cx="12700" cy="2688566"/>
          </a:xfrm>
          <a:prstGeom prst="bentConnector3">
            <a:avLst>
              <a:gd name="adj1" fmla="val 6464150"/>
            </a:avLst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37BAD865-9555-1799-967D-3149A4B6918E}"/>
              </a:ext>
            </a:extLst>
          </p:cNvPr>
          <p:cNvSpPr txBox="1"/>
          <p:nvPr/>
        </p:nvSpPr>
        <p:spPr>
          <a:xfrm>
            <a:off x="954657" y="2703745"/>
            <a:ext cx="12025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GET/POST</a:t>
            </a:r>
            <a:endParaRPr lang="zh-CN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9C17AD8-51F6-1E7D-4A74-189D41D05AE4}"/>
              </a:ext>
            </a:extLst>
          </p:cNvPr>
          <p:cNvSpPr/>
          <p:nvPr/>
        </p:nvSpPr>
        <p:spPr>
          <a:xfrm>
            <a:off x="4770405" y="1293963"/>
            <a:ext cx="1429109" cy="500332"/>
          </a:xfrm>
          <a:prstGeom prst="rect">
            <a:avLst/>
          </a:prstGeom>
          <a:solidFill>
            <a:srgbClr val="E2913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用户资料管理</a:t>
            </a:r>
            <a:endParaRPr lang="en-US" altLang="zh-CN" sz="1600" dirty="0">
              <a:solidFill>
                <a:schemeClr val="tx1"/>
              </a:solidFill>
            </a:endParaRPr>
          </a:p>
          <a:p>
            <a:pPr algn="ctr"/>
            <a:r>
              <a:rPr lang="en-US" altLang="zh-CN" sz="900" dirty="0">
                <a:solidFill>
                  <a:schemeClr val="tx1"/>
                </a:solidFill>
              </a:rPr>
              <a:t>/Agent/profile_store.py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5C98083-D822-352C-0754-9C483654316A}"/>
              </a:ext>
            </a:extLst>
          </p:cNvPr>
          <p:cNvSpPr/>
          <p:nvPr/>
        </p:nvSpPr>
        <p:spPr>
          <a:xfrm>
            <a:off x="4770404" y="258793"/>
            <a:ext cx="1429109" cy="500332"/>
          </a:xfrm>
          <a:prstGeom prst="rect">
            <a:avLst/>
          </a:prstGeom>
          <a:solidFill>
            <a:srgbClr val="E2913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Steam</a:t>
            </a:r>
            <a:r>
              <a:rPr lang="zh-CN" altLang="en-US" sz="1400" dirty="0">
                <a:solidFill>
                  <a:schemeClr val="tx1"/>
                </a:solidFill>
              </a:rPr>
              <a:t>数据概览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algn="ctr"/>
            <a:r>
              <a:rPr lang="en-US" altLang="zh-CN" sz="900" dirty="0">
                <a:solidFill>
                  <a:schemeClr val="tx1"/>
                </a:solidFill>
              </a:rPr>
              <a:t>/Agent/steam_service.py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94B3B11-34E4-36A9-3542-D6876D7DF6BA}"/>
              </a:ext>
            </a:extLst>
          </p:cNvPr>
          <p:cNvSpPr/>
          <p:nvPr/>
        </p:nvSpPr>
        <p:spPr>
          <a:xfrm>
            <a:off x="4770406" y="2262993"/>
            <a:ext cx="1429109" cy="500332"/>
          </a:xfrm>
          <a:prstGeom prst="rect">
            <a:avLst/>
          </a:prstGeom>
          <a:solidFill>
            <a:srgbClr val="E2913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</a:rPr>
              <a:t>Agent</a:t>
            </a:r>
          </a:p>
          <a:p>
            <a:pPr algn="ctr"/>
            <a:r>
              <a:rPr lang="en-US" altLang="zh-CN" sz="900" dirty="0">
                <a:solidFill>
                  <a:schemeClr val="tx1"/>
                </a:solidFill>
              </a:rPr>
              <a:t>/Agent/Agent.py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cxnSp>
        <p:nvCxnSpPr>
          <p:cNvPr id="15" name="连接符: 肘形 14">
            <a:extLst>
              <a:ext uri="{FF2B5EF4-FFF2-40B4-BE49-F238E27FC236}">
                <a16:creationId xmlns:a16="http://schemas.microsoft.com/office/drawing/2014/main" id="{10FB27F3-4894-454C-D9C8-B593494F6C5C}"/>
              </a:ext>
            </a:extLst>
          </p:cNvPr>
          <p:cNvCxnSpPr>
            <a:cxnSpLocks/>
            <a:stCxn id="4" idx="3"/>
            <a:endCxn id="11" idx="1"/>
          </p:cNvCxnSpPr>
          <p:nvPr/>
        </p:nvCxnSpPr>
        <p:spPr>
          <a:xfrm>
            <a:off x="3542581" y="1544129"/>
            <a:ext cx="1227824" cy="1270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连接符: 肘形 17">
            <a:extLst>
              <a:ext uri="{FF2B5EF4-FFF2-40B4-BE49-F238E27FC236}">
                <a16:creationId xmlns:a16="http://schemas.microsoft.com/office/drawing/2014/main" id="{F7B379CA-41C8-227D-8567-0F9B60816380}"/>
              </a:ext>
            </a:extLst>
          </p:cNvPr>
          <p:cNvCxnSpPr>
            <a:cxnSpLocks/>
            <a:stCxn id="4" idx="3"/>
            <a:endCxn id="12" idx="1"/>
          </p:cNvCxnSpPr>
          <p:nvPr/>
        </p:nvCxnSpPr>
        <p:spPr>
          <a:xfrm flipV="1">
            <a:off x="3542581" y="508959"/>
            <a:ext cx="1227823" cy="103517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连接符: 肘形 21">
            <a:extLst>
              <a:ext uri="{FF2B5EF4-FFF2-40B4-BE49-F238E27FC236}">
                <a16:creationId xmlns:a16="http://schemas.microsoft.com/office/drawing/2014/main" id="{25753A9D-CE17-2A53-3E9F-3FAC867964CF}"/>
              </a:ext>
            </a:extLst>
          </p:cNvPr>
          <p:cNvCxnSpPr>
            <a:cxnSpLocks/>
            <a:stCxn id="4" idx="3"/>
            <a:endCxn id="13" idx="1"/>
          </p:cNvCxnSpPr>
          <p:nvPr/>
        </p:nvCxnSpPr>
        <p:spPr>
          <a:xfrm>
            <a:off x="3542581" y="1544129"/>
            <a:ext cx="1227825" cy="96903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矩形 32">
            <a:extLst>
              <a:ext uri="{FF2B5EF4-FFF2-40B4-BE49-F238E27FC236}">
                <a16:creationId xmlns:a16="http://schemas.microsoft.com/office/drawing/2014/main" id="{DC10F81F-BA04-FBF9-7051-26884FC8AFD1}"/>
              </a:ext>
            </a:extLst>
          </p:cNvPr>
          <p:cNvSpPr/>
          <p:nvPr/>
        </p:nvSpPr>
        <p:spPr>
          <a:xfrm>
            <a:off x="8439657" y="1522164"/>
            <a:ext cx="1112573" cy="362313"/>
          </a:xfrm>
          <a:prstGeom prst="rect">
            <a:avLst/>
          </a:prstGeom>
          <a:solidFill>
            <a:srgbClr val="75AF6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</a:rPr>
              <a:t>提示词构建</a:t>
            </a:r>
            <a:endParaRPr lang="en-US" altLang="zh-CN" sz="1400" b="1" dirty="0">
              <a:solidFill>
                <a:schemeClr val="tx1"/>
              </a:solidFill>
            </a:endParaRPr>
          </a:p>
          <a:p>
            <a:pPr algn="ctr"/>
            <a:r>
              <a:rPr lang="en-US" altLang="zh-CN" sz="900" dirty="0">
                <a:solidFill>
                  <a:schemeClr val="tx1"/>
                </a:solidFill>
              </a:rPr>
              <a:t>context_builder.py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1EB998E4-CC75-874C-C383-DAE906EA3001}"/>
              </a:ext>
            </a:extLst>
          </p:cNvPr>
          <p:cNvSpPr/>
          <p:nvPr/>
        </p:nvSpPr>
        <p:spPr>
          <a:xfrm>
            <a:off x="8439656" y="2071379"/>
            <a:ext cx="1112573" cy="362313"/>
          </a:xfrm>
          <a:prstGeom prst="rect">
            <a:avLst/>
          </a:prstGeom>
          <a:solidFill>
            <a:srgbClr val="75AF6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持久化存储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7A8F2F58-8E31-B074-32D5-64DC24DA3A6C}"/>
              </a:ext>
            </a:extLst>
          </p:cNvPr>
          <p:cNvSpPr/>
          <p:nvPr/>
        </p:nvSpPr>
        <p:spPr>
          <a:xfrm>
            <a:off x="8439655" y="2629216"/>
            <a:ext cx="1112573" cy="362313"/>
          </a:xfrm>
          <a:prstGeom prst="rect">
            <a:avLst/>
          </a:prstGeom>
          <a:solidFill>
            <a:srgbClr val="75AF6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LLM</a:t>
            </a:r>
            <a:r>
              <a:rPr lang="zh-CN" altLang="en-US" sz="1400" dirty="0">
                <a:solidFill>
                  <a:schemeClr val="tx1"/>
                </a:solidFill>
              </a:rPr>
              <a:t>调用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3210A9AC-071B-3A1E-CEEA-1FCB9E7DC3A8}"/>
              </a:ext>
            </a:extLst>
          </p:cNvPr>
          <p:cNvSpPr/>
          <p:nvPr/>
        </p:nvSpPr>
        <p:spPr>
          <a:xfrm>
            <a:off x="8439654" y="3175551"/>
            <a:ext cx="1112573" cy="362313"/>
          </a:xfrm>
          <a:prstGeom prst="rect">
            <a:avLst/>
          </a:prstGeom>
          <a:solidFill>
            <a:srgbClr val="75AF6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</a:rPr>
              <a:t>MCP</a:t>
            </a:r>
            <a:r>
              <a:rPr lang="zh-CN" altLang="en-US" sz="1400" b="1" dirty="0">
                <a:solidFill>
                  <a:schemeClr val="tx1"/>
                </a:solidFill>
              </a:rPr>
              <a:t>调用</a:t>
            </a:r>
            <a:endParaRPr lang="en-US" altLang="zh-CN" sz="1400" b="1" dirty="0">
              <a:solidFill>
                <a:schemeClr val="tx1"/>
              </a:solidFill>
            </a:endParaRPr>
          </a:p>
          <a:p>
            <a:pPr algn="ctr"/>
            <a:r>
              <a:rPr lang="en-US" altLang="zh-CN" sz="900" dirty="0">
                <a:solidFill>
                  <a:schemeClr val="tx1"/>
                </a:solidFill>
              </a:rPr>
              <a:t>mcp_client.py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cxnSp>
        <p:nvCxnSpPr>
          <p:cNvPr id="38" name="连接符: 肘形 37">
            <a:extLst>
              <a:ext uri="{FF2B5EF4-FFF2-40B4-BE49-F238E27FC236}">
                <a16:creationId xmlns:a16="http://schemas.microsoft.com/office/drawing/2014/main" id="{5426E696-193B-7FB0-8DB1-52BF12EFC7D2}"/>
              </a:ext>
            </a:extLst>
          </p:cNvPr>
          <p:cNvCxnSpPr>
            <a:cxnSpLocks/>
            <a:stCxn id="13" idx="3"/>
            <a:endCxn id="33" idx="1"/>
          </p:cNvCxnSpPr>
          <p:nvPr/>
        </p:nvCxnSpPr>
        <p:spPr>
          <a:xfrm flipV="1">
            <a:off x="6199515" y="1703321"/>
            <a:ext cx="2240142" cy="809838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连接符: 肘形 40">
            <a:extLst>
              <a:ext uri="{FF2B5EF4-FFF2-40B4-BE49-F238E27FC236}">
                <a16:creationId xmlns:a16="http://schemas.microsoft.com/office/drawing/2014/main" id="{8E8B1F01-E315-B751-5EBE-59F7FEC6A18E}"/>
              </a:ext>
            </a:extLst>
          </p:cNvPr>
          <p:cNvCxnSpPr>
            <a:cxnSpLocks/>
            <a:stCxn id="13" idx="3"/>
            <a:endCxn id="34" idx="1"/>
          </p:cNvCxnSpPr>
          <p:nvPr/>
        </p:nvCxnSpPr>
        <p:spPr>
          <a:xfrm flipV="1">
            <a:off x="6199515" y="2252536"/>
            <a:ext cx="2240141" cy="260623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连接符: 肘形 43">
            <a:extLst>
              <a:ext uri="{FF2B5EF4-FFF2-40B4-BE49-F238E27FC236}">
                <a16:creationId xmlns:a16="http://schemas.microsoft.com/office/drawing/2014/main" id="{92DD3904-2E44-E414-8BEA-16AD9F3F3C30}"/>
              </a:ext>
            </a:extLst>
          </p:cNvPr>
          <p:cNvCxnSpPr>
            <a:cxnSpLocks/>
            <a:stCxn id="13" idx="3"/>
            <a:endCxn id="35" idx="1"/>
          </p:cNvCxnSpPr>
          <p:nvPr/>
        </p:nvCxnSpPr>
        <p:spPr>
          <a:xfrm>
            <a:off x="6199515" y="2513159"/>
            <a:ext cx="2240140" cy="297214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连接符: 肘形 46">
            <a:extLst>
              <a:ext uri="{FF2B5EF4-FFF2-40B4-BE49-F238E27FC236}">
                <a16:creationId xmlns:a16="http://schemas.microsoft.com/office/drawing/2014/main" id="{32711BF3-0222-58DC-E51E-5773C097C84E}"/>
              </a:ext>
            </a:extLst>
          </p:cNvPr>
          <p:cNvCxnSpPr>
            <a:cxnSpLocks/>
            <a:stCxn id="13" idx="3"/>
            <a:endCxn id="36" idx="1"/>
          </p:cNvCxnSpPr>
          <p:nvPr/>
        </p:nvCxnSpPr>
        <p:spPr>
          <a:xfrm>
            <a:off x="6199515" y="2513159"/>
            <a:ext cx="2240139" cy="843549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文本框 91">
            <a:extLst>
              <a:ext uri="{FF2B5EF4-FFF2-40B4-BE49-F238E27FC236}">
                <a16:creationId xmlns:a16="http://schemas.microsoft.com/office/drawing/2014/main" id="{D923FBF2-984A-E862-6668-38EEE4AA3E6A}"/>
              </a:ext>
            </a:extLst>
          </p:cNvPr>
          <p:cNvSpPr txBox="1"/>
          <p:nvPr/>
        </p:nvSpPr>
        <p:spPr>
          <a:xfrm>
            <a:off x="9552227" y="2152015"/>
            <a:ext cx="27238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dirty="0"/>
              <a:t>把对话历史记录，知识库，用户资料等存储在本地</a:t>
            </a: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F9675162-C0BA-FD95-30B0-E4CD41542CAE}"/>
              </a:ext>
            </a:extLst>
          </p:cNvPr>
          <p:cNvSpPr txBox="1"/>
          <p:nvPr/>
        </p:nvSpPr>
        <p:spPr>
          <a:xfrm>
            <a:off x="9592573" y="2717159"/>
            <a:ext cx="200728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dirty="0"/>
              <a:t>支持</a:t>
            </a:r>
            <a:r>
              <a:rPr lang="en-US" altLang="zh-CN" sz="900" dirty="0" err="1"/>
              <a:t>openai</a:t>
            </a:r>
            <a:r>
              <a:rPr lang="zh-CN" altLang="en-US" sz="900" dirty="0"/>
              <a:t>格式和</a:t>
            </a:r>
            <a:r>
              <a:rPr lang="en-US" altLang="zh-CN" sz="900" dirty="0" err="1"/>
              <a:t>ollama</a:t>
            </a:r>
            <a:r>
              <a:rPr lang="zh-CN" altLang="en-US" sz="900" dirty="0"/>
              <a:t>格式的接口</a:t>
            </a:r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FA5A7259-0CEA-8033-8801-360B774D05E0}"/>
              </a:ext>
            </a:extLst>
          </p:cNvPr>
          <p:cNvSpPr/>
          <p:nvPr/>
        </p:nvSpPr>
        <p:spPr>
          <a:xfrm>
            <a:off x="4770404" y="3982528"/>
            <a:ext cx="1429109" cy="500332"/>
          </a:xfrm>
          <a:prstGeom prst="rect">
            <a:avLst/>
          </a:prstGeom>
          <a:solidFill>
            <a:srgbClr val="E2913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前端主界面</a:t>
            </a:r>
            <a:endParaRPr lang="en-US" altLang="zh-CN" sz="1600" dirty="0">
              <a:solidFill>
                <a:schemeClr val="tx1"/>
              </a:solidFill>
            </a:endParaRPr>
          </a:p>
          <a:p>
            <a:pPr algn="ctr"/>
            <a:r>
              <a:rPr lang="en-US" altLang="zh-CN" sz="900" dirty="0">
                <a:solidFill>
                  <a:schemeClr val="tx1"/>
                </a:solidFill>
              </a:rPr>
              <a:t>/frontend/</a:t>
            </a:r>
            <a:r>
              <a:rPr lang="en-US" altLang="zh-CN" sz="900" dirty="0" err="1">
                <a:solidFill>
                  <a:schemeClr val="tx1"/>
                </a:solidFill>
              </a:rPr>
              <a:t>src</a:t>
            </a:r>
            <a:r>
              <a:rPr lang="en-US" altLang="zh-CN" sz="900" dirty="0">
                <a:solidFill>
                  <a:schemeClr val="tx1"/>
                </a:solidFill>
              </a:rPr>
              <a:t>/</a:t>
            </a:r>
            <a:r>
              <a:rPr lang="en-US" altLang="zh-CN" sz="900" dirty="0" err="1">
                <a:solidFill>
                  <a:schemeClr val="tx1"/>
                </a:solidFill>
              </a:rPr>
              <a:t>App.vue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cxnSp>
        <p:nvCxnSpPr>
          <p:cNvPr id="99" name="连接符: 肘形 98">
            <a:extLst>
              <a:ext uri="{FF2B5EF4-FFF2-40B4-BE49-F238E27FC236}">
                <a16:creationId xmlns:a16="http://schemas.microsoft.com/office/drawing/2014/main" id="{CDF39066-B5A5-5761-C929-09B2B64324D0}"/>
              </a:ext>
            </a:extLst>
          </p:cNvPr>
          <p:cNvCxnSpPr>
            <a:cxnSpLocks/>
            <a:stCxn id="11" idx="3"/>
            <a:endCxn id="34" idx="1"/>
          </p:cNvCxnSpPr>
          <p:nvPr/>
        </p:nvCxnSpPr>
        <p:spPr>
          <a:xfrm>
            <a:off x="6199514" y="1544129"/>
            <a:ext cx="2240142" cy="708407"/>
          </a:xfrm>
          <a:prstGeom prst="bentConnector3">
            <a:avLst>
              <a:gd name="adj1" fmla="val 31259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矩形 101">
            <a:extLst>
              <a:ext uri="{FF2B5EF4-FFF2-40B4-BE49-F238E27FC236}">
                <a16:creationId xmlns:a16="http://schemas.microsoft.com/office/drawing/2014/main" id="{B25BB9AC-D0FF-4B8F-E531-DF192DF23F75}"/>
              </a:ext>
            </a:extLst>
          </p:cNvPr>
          <p:cNvSpPr/>
          <p:nvPr/>
        </p:nvSpPr>
        <p:spPr>
          <a:xfrm>
            <a:off x="8439653" y="978636"/>
            <a:ext cx="1112573" cy="362313"/>
          </a:xfrm>
          <a:prstGeom prst="rect">
            <a:avLst/>
          </a:prstGeom>
          <a:solidFill>
            <a:srgbClr val="75AF6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增删改用户</a:t>
            </a:r>
          </a:p>
        </p:txBody>
      </p:sp>
      <p:cxnSp>
        <p:nvCxnSpPr>
          <p:cNvPr id="105" name="连接符: 肘形 104">
            <a:extLst>
              <a:ext uri="{FF2B5EF4-FFF2-40B4-BE49-F238E27FC236}">
                <a16:creationId xmlns:a16="http://schemas.microsoft.com/office/drawing/2014/main" id="{B7C9E442-0A0C-166E-F35F-4127A06F1D03}"/>
              </a:ext>
            </a:extLst>
          </p:cNvPr>
          <p:cNvCxnSpPr>
            <a:cxnSpLocks/>
            <a:stCxn id="11" idx="3"/>
            <a:endCxn id="102" idx="1"/>
          </p:cNvCxnSpPr>
          <p:nvPr/>
        </p:nvCxnSpPr>
        <p:spPr>
          <a:xfrm flipV="1">
            <a:off x="6199514" y="1159793"/>
            <a:ext cx="2240139" cy="384336"/>
          </a:xfrm>
          <a:prstGeom prst="bentConnector3">
            <a:avLst>
              <a:gd name="adj1" fmla="val 31259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矩形 107">
            <a:extLst>
              <a:ext uri="{FF2B5EF4-FFF2-40B4-BE49-F238E27FC236}">
                <a16:creationId xmlns:a16="http://schemas.microsoft.com/office/drawing/2014/main" id="{61959A08-7DC5-78A7-2590-8BAE873C08CA}"/>
              </a:ext>
            </a:extLst>
          </p:cNvPr>
          <p:cNvSpPr/>
          <p:nvPr/>
        </p:nvSpPr>
        <p:spPr>
          <a:xfrm>
            <a:off x="6871049" y="3482193"/>
            <a:ext cx="1112573" cy="362313"/>
          </a:xfrm>
          <a:prstGeom prst="rect">
            <a:avLst/>
          </a:prstGeom>
          <a:solidFill>
            <a:srgbClr val="75AF6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</a:rPr>
              <a:t>界面组件</a:t>
            </a:r>
            <a:endParaRPr lang="en-US" altLang="zh-CN" sz="1400" b="1" dirty="0">
              <a:solidFill>
                <a:schemeClr val="tx1"/>
              </a:solidFill>
            </a:endParaRPr>
          </a:p>
          <a:p>
            <a:pPr algn="ctr"/>
            <a:r>
              <a:rPr lang="en-US" altLang="zh-CN" sz="900" dirty="0">
                <a:solidFill>
                  <a:schemeClr val="tx1"/>
                </a:solidFill>
              </a:rPr>
              <a:t>/</a:t>
            </a:r>
            <a:r>
              <a:rPr lang="en-US" altLang="zh-CN" sz="900" dirty="0" err="1">
                <a:solidFill>
                  <a:schemeClr val="tx1"/>
                </a:solidFill>
              </a:rPr>
              <a:t>src</a:t>
            </a:r>
            <a:r>
              <a:rPr lang="en-US" altLang="zh-CN" sz="900" dirty="0">
                <a:solidFill>
                  <a:schemeClr val="tx1"/>
                </a:solidFill>
              </a:rPr>
              <a:t>/components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C0F2FCA7-42DD-9863-3564-175DD2AE688C}"/>
              </a:ext>
            </a:extLst>
          </p:cNvPr>
          <p:cNvSpPr/>
          <p:nvPr/>
        </p:nvSpPr>
        <p:spPr>
          <a:xfrm>
            <a:off x="6871048" y="4046300"/>
            <a:ext cx="1112573" cy="362313"/>
          </a:xfrm>
          <a:prstGeom prst="rect">
            <a:avLst/>
          </a:prstGeom>
          <a:solidFill>
            <a:srgbClr val="75AF6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界面服务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algn="ctr"/>
            <a:r>
              <a:rPr lang="en-US" altLang="zh-CN" sz="900" dirty="0">
                <a:solidFill>
                  <a:schemeClr val="tx1"/>
                </a:solidFill>
              </a:rPr>
              <a:t>/</a:t>
            </a:r>
            <a:r>
              <a:rPr lang="en-US" altLang="zh-CN" sz="900" dirty="0" err="1">
                <a:solidFill>
                  <a:schemeClr val="tx1"/>
                </a:solidFill>
              </a:rPr>
              <a:t>src</a:t>
            </a:r>
            <a:r>
              <a:rPr lang="en-US" altLang="zh-CN" sz="900" dirty="0">
                <a:solidFill>
                  <a:schemeClr val="tx1"/>
                </a:solidFill>
              </a:rPr>
              <a:t>/services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id="{E65098CD-F4AB-7E57-DD6F-E50076FFC323}"/>
              </a:ext>
            </a:extLst>
          </p:cNvPr>
          <p:cNvSpPr/>
          <p:nvPr/>
        </p:nvSpPr>
        <p:spPr>
          <a:xfrm>
            <a:off x="6871048" y="4610407"/>
            <a:ext cx="1112573" cy="362313"/>
          </a:xfrm>
          <a:prstGeom prst="rect">
            <a:avLst/>
          </a:prstGeom>
          <a:solidFill>
            <a:srgbClr val="75AF6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界面状态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algn="ctr"/>
            <a:r>
              <a:rPr lang="en-US" altLang="zh-CN" sz="900" dirty="0">
                <a:solidFill>
                  <a:schemeClr val="tx1"/>
                </a:solidFill>
              </a:rPr>
              <a:t>/</a:t>
            </a:r>
            <a:r>
              <a:rPr lang="en-US" altLang="zh-CN" sz="900" dirty="0" err="1">
                <a:solidFill>
                  <a:schemeClr val="tx1"/>
                </a:solidFill>
              </a:rPr>
              <a:t>src</a:t>
            </a:r>
            <a:r>
              <a:rPr lang="en-US" altLang="zh-CN" sz="900" dirty="0">
                <a:solidFill>
                  <a:schemeClr val="tx1"/>
                </a:solidFill>
              </a:rPr>
              <a:t>/store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cxnSp>
        <p:nvCxnSpPr>
          <p:cNvPr id="112" name="连接符: 肘形 111">
            <a:extLst>
              <a:ext uri="{FF2B5EF4-FFF2-40B4-BE49-F238E27FC236}">
                <a16:creationId xmlns:a16="http://schemas.microsoft.com/office/drawing/2014/main" id="{64C5F65B-853F-F65D-7910-27ACE7EEFC62}"/>
              </a:ext>
            </a:extLst>
          </p:cNvPr>
          <p:cNvCxnSpPr>
            <a:cxnSpLocks/>
            <a:stCxn id="94" idx="3"/>
            <a:endCxn id="109" idx="1"/>
          </p:cNvCxnSpPr>
          <p:nvPr/>
        </p:nvCxnSpPr>
        <p:spPr>
          <a:xfrm flipV="1">
            <a:off x="6199513" y="4227457"/>
            <a:ext cx="671535" cy="5237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连接符: 肘形 116">
            <a:extLst>
              <a:ext uri="{FF2B5EF4-FFF2-40B4-BE49-F238E27FC236}">
                <a16:creationId xmlns:a16="http://schemas.microsoft.com/office/drawing/2014/main" id="{179259B1-A39B-C038-DAC6-561215B59B87}"/>
              </a:ext>
            </a:extLst>
          </p:cNvPr>
          <p:cNvCxnSpPr>
            <a:cxnSpLocks/>
            <a:stCxn id="94" idx="3"/>
            <a:endCxn id="108" idx="1"/>
          </p:cNvCxnSpPr>
          <p:nvPr/>
        </p:nvCxnSpPr>
        <p:spPr>
          <a:xfrm flipV="1">
            <a:off x="6199513" y="3663350"/>
            <a:ext cx="671536" cy="569344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连接符: 肘形 119">
            <a:extLst>
              <a:ext uri="{FF2B5EF4-FFF2-40B4-BE49-F238E27FC236}">
                <a16:creationId xmlns:a16="http://schemas.microsoft.com/office/drawing/2014/main" id="{AEEB39C7-FBBB-5F41-5BB6-B85F99E1C00D}"/>
              </a:ext>
            </a:extLst>
          </p:cNvPr>
          <p:cNvCxnSpPr>
            <a:cxnSpLocks/>
            <a:stCxn id="94" idx="3"/>
            <a:endCxn id="110" idx="1"/>
          </p:cNvCxnSpPr>
          <p:nvPr/>
        </p:nvCxnSpPr>
        <p:spPr>
          <a:xfrm>
            <a:off x="6199513" y="4232694"/>
            <a:ext cx="671535" cy="55887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椭圆 121">
            <a:extLst>
              <a:ext uri="{FF2B5EF4-FFF2-40B4-BE49-F238E27FC236}">
                <a16:creationId xmlns:a16="http://schemas.microsoft.com/office/drawing/2014/main" id="{66F1F738-EC1E-7FAB-A696-6D75527D287A}"/>
              </a:ext>
            </a:extLst>
          </p:cNvPr>
          <p:cNvSpPr/>
          <p:nvPr/>
        </p:nvSpPr>
        <p:spPr>
          <a:xfrm>
            <a:off x="6599198" y="5470177"/>
            <a:ext cx="1656272" cy="782128"/>
          </a:xfrm>
          <a:prstGeom prst="ellipse">
            <a:avLst/>
          </a:prstGeom>
          <a:solidFill>
            <a:srgbClr val="4A5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MCP</a:t>
            </a:r>
            <a:r>
              <a:rPr lang="zh-CN" altLang="en-US" b="1" dirty="0">
                <a:solidFill>
                  <a:schemeClr val="tx1"/>
                </a:solidFill>
              </a:rPr>
              <a:t>工具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0112F42-5781-D326-CF3A-7DDD3150A3CA}"/>
              </a:ext>
            </a:extLst>
          </p:cNvPr>
          <p:cNvSpPr/>
          <p:nvPr/>
        </p:nvSpPr>
        <p:spPr>
          <a:xfrm>
            <a:off x="8563300" y="5064736"/>
            <a:ext cx="1112573" cy="362313"/>
          </a:xfrm>
          <a:prstGeom prst="rect">
            <a:avLst/>
          </a:prstGeom>
          <a:solidFill>
            <a:srgbClr val="94C6C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初始化入口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algn="ctr"/>
            <a:r>
              <a:rPr lang="en-US" altLang="zh-CN" sz="900" dirty="0">
                <a:solidFill>
                  <a:schemeClr val="tx1"/>
                </a:solidFill>
              </a:rPr>
              <a:t>/</a:t>
            </a:r>
            <a:r>
              <a:rPr lang="en-US" altLang="zh-CN" sz="900" dirty="0" err="1">
                <a:solidFill>
                  <a:schemeClr val="tx1"/>
                </a:solidFill>
              </a:rPr>
              <a:t>src</a:t>
            </a:r>
            <a:r>
              <a:rPr lang="en-US" altLang="zh-CN" sz="900" dirty="0">
                <a:solidFill>
                  <a:schemeClr val="tx1"/>
                </a:solidFill>
              </a:rPr>
              <a:t>/</a:t>
            </a:r>
            <a:r>
              <a:rPr lang="en-US" altLang="zh-CN" sz="900" dirty="0" err="1">
                <a:solidFill>
                  <a:schemeClr val="tx1"/>
                </a:solidFill>
              </a:rPr>
              <a:t>index.ts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FB7D9F5-E14C-00C0-659D-34597A069DB0}"/>
              </a:ext>
            </a:extLst>
          </p:cNvPr>
          <p:cNvSpPr/>
          <p:nvPr/>
        </p:nvSpPr>
        <p:spPr>
          <a:xfrm>
            <a:off x="8563299" y="5685003"/>
            <a:ext cx="1112573" cy="362313"/>
          </a:xfrm>
          <a:prstGeom prst="rect">
            <a:avLst/>
          </a:prstGeom>
          <a:solidFill>
            <a:srgbClr val="94C6C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API</a:t>
            </a:r>
            <a:r>
              <a:rPr lang="zh-CN" altLang="en-US" sz="1400" dirty="0">
                <a:solidFill>
                  <a:schemeClr val="tx1"/>
                </a:solidFill>
              </a:rPr>
              <a:t>封装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algn="ctr"/>
            <a:r>
              <a:rPr lang="en-US" altLang="zh-CN" sz="900" dirty="0">
                <a:solidFill>
                  <a:schemeClr val="tx1"/>
                </a:solidFill>
              </a:rPr>
              <a:t>/</a:t>
            </a:r>
            <a:r>
              <a:rPr lang="en-US" altLang="zh-CN" sz="900" dirty="0" err="1">
                <a:solidFill>
                  <a:schemeClr val="tx1"/>
                </a:solidFill>
              </a:rPr>
              <a:t>src</a:t>
            </a:r>
            <a:r>
              <a:rPr lang="en-US" altLang="zh-CN" sz="900" dirty="0">
                <a:solidFill>
                  <a:schemeClr val="tx1"/>
                </a:solidFill>
              </a:rPr>
              <a:t>/steam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F31EBA5-C251-DBAF-29C4-EF891FD7BE07}"/>
              </a:ext>
            </a:extLst>
          </p:cNvPr>
          <p:cNvSpPr/>
          <p:nvPr/>
        </p:nvSpPr>
        <p:spPr>
          <a:xfrm>
            <a:off x="8563299" y="6305269"/>
            <a:ext cx="1112573" cy="362313"/>
          </a:xfrm>
          <a:prstGeom prst="rect">
            <a:avLst/>
          </a:prstGeom>
          <a:solidFill>
            <a:srgbClr val="94C6C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工具定义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algn="ctr"/>
            <a:r>
              <a:rPr lang="en-US" altLang="zh-CN" sz="900" dirty="0">
                <a:solidFill>
                  <a:schemeClr val="tx1"/>
                </a:solidFill>
              </a:rPr>
              <a:t>/</a:t>
            </a:r>
            <a:r>
              <a:rPr lang="en-US" altLang="zh-CN" sz="900" dirty="0" err="1">
                <a:solidFill>
                  <a:schemeClr val="tx1"/>
                </a:solidFill>
              </a:rPr>
              <a:t>src</a:t>
            </a:r>
            <a:r>
              <a:rPr lang="en-US" altLang="zh-CN" sz="900" dirty="0">
                <a:solidFill>
                  <a:schemeClr val="tx1"/>
                </a:solidFill>
              </a:rPr>
              <a:t>/tools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11DBC8A4-0293-A31B-FC77-114FDA7A3703}"/>
              </a:ext>
            </a:extLst>
          </p:cNvPr>
          <p:cNvCxnSpPr>
            <a:cxnSpLocks/>
            <a:stCxn id="122" idx="6"/>
            <a:endCxn id="2" idx="1"/>
          </p:cNvCxnSpPr>
          <p:nvPr/>
        </p:nvCxnSpPr>
        <p:spPr>
          <a:xfrm flipV="1">
            <a:off x="8255470" y="5245893"/>
            <a:ext cx="307830" cy="6153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50C0EA6A-BC6A-3837-22D4-ABB3E6B838AB}"/>
              </a:ext>
            </a:extLst>
          </p:cNvPr>
          <p:cNvCxnSpPr>
            <a:cxnSpLocks/>
            <a:stCxn id="122" idx="6"/>
            <a:endCxn id="3" idx="1"/>
          </p:cNvCxnSpPr>
          <p:nvPr/>
        </p:nvCxnSpPr>
        <p:spPr>
          <a:xfrm>
            <a:off x="8255470" y="5861241"/>
            <a:ext cx="307829" cy="49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0EBB5F59-695B-029A-A4ED-F14A82386DEE}"/>
              </a:ext>
            </a:extLst>
          </p:cNvPr>
          <p:cNvCxnSpPr>
            <a:cxnSpLocks/>
            <a:stCxn id="122" idx="6"/>
            <a:endCxn id="6" idx="1"/>
          </p:cNvCxnSpPr>
          <p:nvPr/>
        </p:nvCxnSpPr>
        <p:spPr>
          <a:xfrm>
            <a:off x="8255470" y="5861241"/>
            <a:ext cx="307829" cy="6251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连接符: 肘形 25">
            <a:extLst>
              <a:ext uri="{FF2B5EF4-FFF2-40B4-BE49-F238E27FC236}">
                <a16:creationId xmlns:a16="http://schemas.microsoft.com/office/drawing/2014/main" id="{327DAE8F-5EA8-A7D3-79E5-1484CFB9A7BF}"/>
              </a:ext>
            </a:extLst>
          </p:cNvPr>
          <p:cNvCxnSpPr>
            <a:cxnSpLocks/>
            <a:stCxn id="36" idx="3"/>
            <a:endCxn id="2" idx="3"/>
          </p:cNvCxnSpPr>
          <p:nvPr/>
        </p:nvCxnSpPr>
        <p:spPr>
          <a:xfrm>
            <a:off x="9552227" y="3356708"/>
            <a:ext cx="123646" cy="1889185"/>
          </a:xfrm>
          <a:prstGeom prst="bentConnector3">
            <a:avLst>
              <a:gd name="adj1" fmla="val 28488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4525FE28-4486-AD8F-00B2-A1D61C325E83}"/>
              </a:ext>
            </a:extLst>
          </p:cNvPr>
          <p:cNvSpPr txBox="1"/>
          <p:nvPr/>
        </p:nvSpPr>
        <p:spPr>
          <a:xfrm>
            <a:off x="9909242" y="3948022"/>
            <a:ext cx="211598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 err="1"/>
              <a:t>mcp_client</a:t>
            </a:r>
            <a:r>
              <a:rPr lang="zh-CN" altLang="en-US" sz="1100" dirty="0"/>
              <a:t>内通过文件路径找到</a:t>
            </a:r>
            <a:r>
              <a:rPr lang="en-US" altLang="zh-CN" sz="1100" dirty="0" err="1"/>
              <a:t>index.ts</a:t>
            </a:r>
            <a:r>
              <a:rPr lang="zh-CN" altLang="en-US" sz="1100" dirty="0"/>
              <a:t>，启动该子进程，并通过</a:t>
            </a:r>
            <a:r>
              <a:rPr lang="en-US" altLang="zh-CN" sz="1100" dirty="0" err="1"/>
              <a:t>stdio</a:t>
            </a:r>
            <a:r>
              <a:rPr lang="zh-CN" altLang="en-US" sz="1100" dirty="0"/>
              <a:t>建立</a:t>
            </a:r>
            <a:r>
              <a:rPr lang="en-US" altLang="zh-CN" sz="1100" dirty="0" err="1"/>
              <a:t>mcp</a:t>
            </a:r>
            <a:r>
              <a:rPr lang="zh-CN" altLang="en-US" sz="1100" dirty="0"/>
              <a:t>管道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476DCF06-EF95-9693-64DC-5141597B674E}"/>
              </a:ext>
            </a:extLst>
          </p:cNvPr>
          <p:cNvSpPr txBox="1"/>
          <p:nvPr/>
        </p:nvSpPr>
        <p:spPr>
          <a:xfrm>
            <a:off x="144178" y="93626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总体概览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7BA0BEA2-F7F7-ADB5-9319-F3B8AE29CBCB}"/>
              </a:ext>
            </a:extLst>
          </p:cNvPr>
          <p:cNvSpPr txBox="1"/>
          <p:nvPr/>
        </p:nvSpPr>
        <p:spPr>
          <a:xfrm>
            <a:off x="9720075" y="6371009"/>
            <a:ext cx="99899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900" dirty="0"/>
              <a:t>21</a:t>
            </a:r>
            <a:r>
              <a:rPr lang="zh-CN" altLang="en-US" sz="900" dirty="0"/>
              <a:t>个不同的工具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63C74EFE-2FA3-DACC-B005-82894D21EF09}"/>
              </a:ext>
            </a:extLst>
          </p:cNvPr>
          <p:cNvSpPr/>
          <p:nvPr/>
        </p:nvSpPr>
        <p:spPr>
          <a:xfrm>
            <a:off x="6599198" y="103117"/>
            <a:ext cx="1112573" cy="362313"/>
          </a:xfrm>
          <a:prstGeom prst="rect">
            <a:avLst/>
          </a:prstGeom>
          <a:solidFill>
            <a:srgbClr val="75AF6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个人私有资料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F7426F6A-73C7-0A0A-13D1-488962AE427E}"/>
              </a:ext>
            </a:extLst>
          </p:cNvPr>
          <p:cNvSpPr/>
          <p:nvPr/>
        </p:nvSpPr>
        <p:spPr>
          <a:xfrm>
            <a:off x="6599197" y="661353"/>
            <a:ext cx="1112573" cy="362313"/>
          </a:xfrm>
          <a:prstGeom prst="rect">
            <a:avLst/>
          </a:prstGeom>
          <a:solidFill>
            <a:srgbClr val="75AF6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商店公开资料</a:t>
            </a:r>
          </a:p>
        </p:txBody>
      </p: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167B0127-6146-5616-B981-2CDD198B74A1}"/>
              </a:ext>
            </a:extLst>
          </p:cNvPr>
          <p:cNvCxnSpPr>
            <a:cxnSpLocks/>
            <a:stCxn id="12" idx="3"/>
            <a:endCxn id="39" idx="1"/>
          </p:cNvCxnSpPr>
          <p:nvPr/>
        </p:nvCxnSpPr>
        <p:spPr>
          <a:xfrm flipV="1">
            <a:off x="6199513" y="284274"/>
            <a:ext cx="399685" cy="2246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B3B60111-55F6-7A83-3E03-4DAF675E23E0}"/>
              </a:ext>
            </a:extLst>
          </p:cNvPr>
          <p:cNvCxnSpPr>
            <a:cxnSpLocks/>
            <a:stCxn id="12" idx="3"/>
            <a:endCxn id="40" idx="1"/>
          </p:cNvCxnSpPr>
          <p:nvPr/>
        </p:nvCxnSpPr>
        <p:spPr>
          <a:xfrm>
            <a:off x="6199513" y="508959"/>
            <a:ext cx="399684" cy="3335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连接符: 肘形 50">
            <a:extLst>
              <a:ext uri="{FF2B5EF4-FFF2-40B4-BE49-F238E27FC236}">
                <a16:creationId xmlns:a16="http://schemas.microsoft.com/office/drawing/2014/main" id="{F2AE1DCC-06F3-11E0-D7B0-28E9C98CC217}"/>
              </a:ext>
            </a:extLst>
          </p:cNvPr>
          <p:cNvCxnSpPr>
            <a:cxnSpLocks/>
            <a:stCxn id="5" idx="3"/>
            <a:endCxn id="94" idx="1"/>
          </p:cNvCxnSpPr>
          <p:nvPr/>
        </p:nvCxnSpPr>
        <p:spPr>
          <a:xfrm flipV="1">
            <a:off x="3542581" y="4232694"/>
            <a:ext cx="1227823" cy="1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C764D72A-F62A-39D3-4664-3F57839C5EFD}"/>
              </a:ext>
            </a:extLst>
          </p:cNvPr>
          <p:cNvSpPr txBox="1"/>
          <p:nvPr/>
        </p:nvSpPr>
        <p:spPr>
          <a:xfrm>
            <a:off x="7995243" y="4097261"/>
            <a:ext cx="169469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dirty="0"/>
              <a:t>存放一些前端使用的工具函数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756BB85-456B-DCDB-5DB0-B17DD1FCC382}"/>
              </a:ext>
            </a:extLst>
          </p:cNvPr>
          <p:cNvSpPr txBox="1"/>
          <p:nvPr/>
        </p:nvSpPr>
        <p:spPr>
          <a:xfrm>
            <a:off x="7995243" y="4621394"/>
            <a:ext cx="122341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dirty="0"/>
              <a:t>管理当前界面的状态</a:t>
            </a:r>
          </a:p>
        </p:txBody>
      </p:sp>
    </p:spTree>
    <p:extLst>
      <p:ext uri="{BB962C8B-B14F-4D97-AF65-F5344CB8AC3E}">
        <p14:creationId xmlns:p14="http://schemas.microsoft.com/office/powerpoint/2010/main" val="20584330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文本框 29">
            <a:extLst>
              <a:ext uri="{FF2B5EF4-FFF2-40B4-BE49-F238E27FC236}">
                <a16:creationId xmlns:a16="http://schemas.microsoft.com/office/drawing/2014/main" id="{476DCF06-EF95-9693-64DC-5141597B674E}"/>
              </a:ext>
            </a:extLst>
          </p:cNvPr>
          <p:cNvSpPr txBox="1"/>
          <p:nvPr/>
        </p:nvSpPr>
        <p:spPr>
          <a:xfrm>
            <a:off x="144178" y="93626"/>
            <a:ext cx="19800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提示词构建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03D40E2-3AAF-C3C1-6A7B-565DBE372B12}"/>
              </a:ext>
            </a:extLst>
          </p:cNvPr>
          <p:cNvSpPr/>
          <p:nvPr/>
        </p:nvSpPr>
        <p:spPr>
          <a:xfrm>
            <a:off x="3793795" y="616846"/>
            <a:ext cx="1429109" cy="500332"/>
          </a:xfrm>
          <a:prstGeom prst="rect">
            <a:avLst/>
          </a:prstGeom>
          <a:solidFill>
            <a:srgbClr val="925E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公共知识库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algn="ctr"/>
            <a:r>
              <a:rPr lang="en-US" altLang="zh-CN" sz="900" dirty="0">
                <a:solidFill>
                  <a:schemeClr val="tx1"/>
                </a:solidFill>
              </a:rPr>
              <a:t>/Agent/Knowledge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D8C01EC-C711-4A59-1E9B-5EC1E83DF822}"/>
              </a:ext>
            </a:extLst>
          </p:cNvPr>
          <p:cNvSpPr/>
          <p:nvPr/>
        </p:nvSpPr>
        <p:spPr>
          <a:xfrm>
            <a:off x="5728988" y="616846"/>
            <a:ext cx="1429109" cy="500332"/>
          </a:xfrm>
          <a:prstGeom prst="rect">
            <a:avLst/>
          </a:prstGeom>
          <a:solidFill>
            <a:srgbClr val="925E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专有知识库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algn="ctr"/>
            <a:r>
              <a:rPr lang="en-US" altLang="zh-CN" sz="800" dirty="0">
                <a:solidFill>
                  <a:schemeClr val="tx1"/>
                </a:solidFill>
              </a:rPr>
              <a:t>/Agent/runtime/Knowledge/{</a:t>
            </a:r>
            <a:r>
              <a:rPr lang="en-US" altLang="zh-CN" sz="800" dirty="0" err="1">
                <a:solidFill>
                  <a:schemeClr val="tx1"/>
                </a:solidFill>
              </a:rPr>
              <a:t>profileId</a:t>
            </a:r>
            <a:r>
              <a:rPr lang="en-US" altLang="zh-CN" sz="800" dirty="0">
                <a:solidFill>
                  <a:schemeClr val="tx1"/>
                </a:solidFill>
              </a:rPr>
              <a:t>}</a:t>
            </a:r>
            <a:endParaRPr lang="zh-CN" altLang="en-US" sz="800" dirty="0">
              <a:solidFill>
                <a:schemeClr val="tx1"/>
              </a:solidFill>
            </a:endParaRP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751FBCCC-D826-91EB-A08E-11342338EC35}"/>
              </a:ext>
            </a:extLst>
          </p:cNvPr>
          <p:cNvSpPr/>
          <p:nvPr/>
        </p:nvSpPr>
        <p:spPr>
          <a:xfrm>
            <a:off x="8546251" y="616846"/>
            <a:ext cx="1035170" cy="500332"/>
          </a:xfrm>
          <a:prstGeom prst="ellipse">
            <a:avLst/>
          </a:prstGeom>
          <a:solidFill>
            <a:srgbClr val="E2913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前端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B68A4FA-8BEE-C439-9BEE-D88F0AAA9C05}"/>
              </a:ext>
            </a:extLst>
          </p:cNvPr>
          <p:cNvSpPr/>
          <p:nvPr/>
        </p:nvSpPr>
        <p:spPr>
          <a:xfrm>
            <a:off x="4762829" y="1545624"/>
            <a:ext cx="1429109" cy="500332"/>
          </a:xfrm>
          <a:prstGeom prst="rect">
            <a:avLst/>
          </a:prstGeom>
          <a:solidFill>
            <a:srgbClr val="A6AD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Chroma</a:t>
            </a:r>
            <a:r>
              <a:rPr lang="zh-CN" altLang="en-US" sz="1400" dirty="0">
                <a:solidFill>
                  <a:schemeClr val="tx1"/>
                </a:solidFill>
              </a:rPr>
              <a:t>向量库</a:t>
            </a:r>
            <a:endParaRPr lang="en-US" altLang="zh-CN" sz="1400" dirty="0">
              <a:solidFill>
                <a:schemeClr val="tx1"/>
              </a:solidFill>
            </a:endParaRPr>
          </a:p>
        </p:txBody>
      </p:sp>
      <p:cxnSp>
        <p:nvCxnSpPr>
          <p:cNvPr id="25" name="连接符: 肘形 24">
            <a:extLst>
              <a:ext uri="{FF2B5EF4-FFF2-40B4-BE49-F238E27FC236}">
                <a16:creationId xmlns:a16="http://schemas.microsoft.com/office/drawing/2014/main" id="{80BF8C0A-D853-797A-5437-A04C3A97D73F}"/>
              </a:ext>
            </a:extLst>
          </p:cNvPr>
          <p:cNvCxnSpPr>
            <a:cxnSpLocks/>
            <a:stCxn id="8" idx="2"/>
            <a:endCxn id="21" idx="0"/>
          </p:cNvCxnSpPr>
          <p:nvPr/>
        </p:nvCxnSpPr>
        <p:spPr>
          <a:xfrm rot="16200000" flipH="1">
            <a:off x="4778644" y="846884"/>
            <a:ext cx="428446" cy="969034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连接符: 肘形 36">
            <a:extLst>
              <a:ext uri="{FF2B5EF4-FFF2-40B4-BE49-F238E27FC236}">
                <a16:creationId xmlns:a16="http://schemas.microsoft.com/office/drawing/2014/main" id="{97834BA9-D215-29C0-F86F-60C23E7F794E}"/>
              </a:ext>
            </a:extLst>
          </p:cNvPr>
          <p:cNvCxnSpPr>
            <a:cxnSpLocks/>
            <a:stCxn id="19" idx="2"/>
            <a:endCxn id="21" idx="0"/>
          </p:cNvCxnSpPr>
          <p:nvPr/>
        </p:nvCxnSpPr>
        <p:spPr>
          <a:xfrm rot="5400000">
            <a:off x="5746241" y="848322"/>
            <a:ext cx="428446" cy="966159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5220E08D-C19B-AA72-BF69-249596298F28}"/>
              </a:ext>
            </a:extLst>
          </p:cNvPr>
          <p:cNvCxnSpPr>
            <a:cxnSpLocks/>
            <a:stCxn id="20" idx="2"/>
            <a:endCxn id="19" idx="3"/>
          </p:cNvCxnSpPr>
          <p:nvPr/>
        </p:nvCxnSpPr>
        <p:spPr>
          <a:xfrm flipH="1">
            <a:off x="7158097" y="867012"/>
            <a:ext cx="138815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文本框 44">
            <a:extLst>
              <a:ext uri="{FF2B5EF4-FFF2-40B4-BE49-F238E27FC236}">
                <a16:creationId xmlns:a16="http://schemas.microsoft.com/office/drawing/2014/main" id="{8C9AEB7B-CC3F-FD26-2BB8-BCB61892278D}"/>
              </a:ext>
            </a:extLst>
          </p:cNvPr>
          <p:cNvSpPr txBox="1"/>
          <p:nvPr/>
        </p:nvSpPr>
        <p:spPr>
          <a:xfrm>
            <a:off x="7370206" y="932512"/>
            <a:ext cx="12170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dirty="0"/>
              <a:t>上传专有知识库，</a:t>
            </a:r>
            <a:endParaRPr lang="en-US" altLang="zh-CN" sz="900" dirty="0"/>
          </a:p>
          <a:p>
            <a:r>
              <a:rPr lang="zh-CN" altLang="en-US" sz="900" dirty="0"/>
              <a:t>通过</a:t>
            </a:r>
            <a:r>
              <a:rPr lang="en-US" altLang="zh-CN" sz="900" dirty="0"/>
              <a:t>md5</a:t>
            </a:r>
            <a:r>
              <a:rPr lang="zh-CN" altLang="en-US" sz="900" dirty="0"/>
              <a:t>哈希值去重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3362EFD9-4DA2-6CB5-CEE8-16538B5D4B2A}"/>
              </a:ext>
            </a:extLst>
          </p:cNvPr>
          <p:cNvSpPr/>
          <p:nvPr/>
        </p:nvSpPr>
        <p:spPr>
          <a:xfrm>
            <a:off x="8494103" y="1545624"/>
            <a:ext cx="1429109" cy="500332"/>
          </a:xfrm>
          <a:prstGeom prst="rect">
            <a:avLst/>
          </a:prstGeom>
          <a:solidFill>
            <a:srgbClr val="A6AD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历史对话</a:t>
            </a:r>
            <a:endParaRPr lang="en-US" altLang="zh-CN" sz="1400" dirty="0">
              <a:solidFill>
                <a:schemeClr val="tx1"/>
              </a:solidFill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5B324831-AED2-0C19-3FF1-A18C6B0967F8}"/>
              </a:ext>
            </a:extLst>
          </p:cNvPr>
          <p:cNvSpPr/>
          <p:nvPr/>
        </p:nvSpPr>
        <p:spPr>
          <a:xfrm>
            <a:off x="1283160" y="1545624"/>
            <a:ext cx="1429109" cy="500332"/>
          </a:xfrm>
          <a:prstGeom prst="rect">
            <a:avLst/>
          </a:prstGeom>
          <a:solidFill>
            <a:srgbClr val="A6AD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</a:rPr>
              <a:t>当前问题</a:t>
            </a:r>
            <a:endParaRPr lang="en-US" altLang="zh-CN" sz="1400" b="1" dirty="0">
              <a:solidFill>
                <a:schemeClr val="tx1"/>
              </a:solidFill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99F70966-EE08-3E3C-6E12-5A8478229483}"/>
              </a:ext>
            </a:extLst>
          </p:cNvPr>
          <p:cNvSpPr/>
          <p:nvPr/>
        </p:nvSpPr>
        <p:spPr>
          <a:xfrm>
            <a:off x="4762829" y="2681436"/>
            <a:ext cx="1429109" cy="500332"/>
          </a:xfrm>
          <a:prstGeom prst="rect">
            <a:avLst/>
          </a:prstGeom>
          <a:solidFill>
            <a:srgbClr val="7E99F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检索结果格式化</a:t>
            </a:r>
            <a:endParaRPr lang="en-US" altLang="zh-CN" sz="1400" dirty="0">
              <a:solidFill>
                <a:schemeClr val="tx1"/>
              </a:solidFill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59E4667B-AA92-D7BE-00D7-04180478ED86}"/>
              </a:ext>
            </a:extLst>
          </p:cNvPr>
          <p:cNvSpPr/>
          <p:nvPr/>
        </p:nvSpPr>
        <p:spPr>
          <a:xfrm>
            <a:off x="6549597" y="2681182"/>
            <a:ext cx="1429109" cy="500332"/>
          </a:xfrm>
          <a:prstGeom prst="rect">
            <a:avLst/>
          </a:prstGeom>
          <a:solidFill>
            <a:srgbClr val="7E99F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候选上下文块</a:t>
            </a:r>
            <a:endParaRPr lang="en-US" altLang="zh-CN" sz="1400" dirty="0">
              <a:solidFill>
                <a:schemeClr val="tx1"/>
              </a:solidFill>
            </a:endParaRPr>
          </a:p>
        </p:txBody>
      </p: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D3FBB7B2-333F-4EBC-9B46-C5C9A23179EC}"/>
              </a:ext>
            </a:extLst>
          </p:cNvPr>
          <p:cNvCxnSpPr>
            <a:cxnSpLocks/>
            <a:stCxn id="21" idx="2"/>
            <a:endCxn id="49" idx="0"/>
          </p:cNvCxnSpPr>
          <p:nvPr/>
        </p:nvCxnSpPr>
        <p:spPr>
          <a:xfrm>
            <a:off x="5477384" y="2045956"/>
            <a:ext cx="0" cy="6354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矩形 59">
            <a:extLst>
              <a:ext uri="{FF2B5EF4-FFF2-40B4-BE49-F238E27FC236}">
                <a16:creationId xmlns:a16="http://schemas.microsoft.com/office/drawing/2014/main" id="{73A379B9-4F68-6A65-E021-30E9DF170AF0}"/>
              </a:ext>
            </a:extLst>
          </p:cNvPr>
          <p:cNvSpPr/>
          <p:nvPr/>
        </p:nvSpPr>
        <p:spPr>
          <a:xfrm>
            <a:off x="1283159" y="4609485"/>
            <a:ext cx="1429109" cy="500332"/>
          </a:xfrm>
          <a:prstGeom prst="rect">
            <a:avLst/>
          </a:prstGeom>
          <a:solidFill>
            <a:srgbClr val="CC7C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总提示词组装</a:t>
            </a:r>
            <a:endParaRPr lang="en-US" altLang="zh-CN" sz="1400" dirty="0">
              <a:solidFill>
                <a:schemeClr val="tx1"/>
              </a:solidFill>
            </a:endParaRPr>
          </a:p>
        </p:txBody>
      </p:sp>
      <p:cxnSp>
        <p:nvCxnSpPr>
          <p:cNvPr id="65" name="连接符: 肘形 64">
            <a:extLst>
              <a:ext uri="{FF2B5EF4-FFF2-40B4-BE49-F238E27FC236}">
                <a16:creationId xmlns:a16="http://schemas.microsoft.com/office/drawing/2014/main" id="{7C8E54EE-CC1A-BC1F-D3A8-3439D69CDF67}"/>
              </a:ext>
            </a:extLst>
          </p:cNvPr>
          <p:cNvCxnSpPr>
            <a:cxnSpLocks/>
            <a:stCxn id="48" idx="2"/>
          </p:cNvCxnSpPr>
          <p:nvPr/>
        </p:nvCxnSpPr>
        <p:spPr>
          <a:xfrm rot="16200000" flipH="1">
            <a:off x="3588694" y="454977"/>
            <a:ext cx="297710" cy="347966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连接符: 肘形 67">
            <a:extLst>
              <a:ext uri="{FF2B5EF4-FFF2-40B4-BE49-F238E27FC236}">
                <a16:creationId xmlns:a16="http://schemas.microsoft.com/office/drawing/2014/main" id="{06304B80-4D12-D69F-4CE5-5D09537379AF}"/>
              </a:ext>
            </a:extLst>
          </p:cNvPr>
          <p:cNvCxnSpPr>
            <a:cxnSpLocks/>
            <a:stCxn id="48" idx="2"/>
            <a:endCxn id="60" idx="0"/>
          </p:cNvCxnSpPr>
          <p:nvPr/>
        </p:nvCxnSpPr>
        <p:spPr>
          <a:xfrm rot="5400000">
            <a:off x="715951" y="3327720"/>
            <a:ext cx="2563529" cy="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文本框 73">
            <a:extLst>
              <a:ext uri="{FF2B5EF4-FFF2-40B4-BE49-F238E27FC236}">
                <a16:creationId xmlns:a16="http://schemas.microsoft.com/office/drawing/2014/main" id="{E2E20D44-FAE0-C4D5-C85F-E35EFF38540D}"/>
              </a:ext>
            </a:extLst>
          </p:cNvPr>
          <p:cNvSpPr txBox="1"/>
          <p:nvPr/>
        </p:nvSpPr>
        <p:spPr>
          <a:xfrm>
            <a:off x="3545603" y="2047281"/>
            <a:ext cx="13500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RAG Top-k</a:t>
            </a:r>
            <a:endParaRPr lang="zh-CN" altLang="en-US" b="1" dirty="0"/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5AC62825-394F-97E0-C98C-4522E69BD00B}"/>
              </a:ext>
            </a:extLst>
          </p:cNvPr>
          <p:cNvSpPr txBox="1"/>
          <p:nvPr/>
        </p:nvSpPr>
        <p:spPr>
          <a:xfrm>
            <a:off x="9218678" y="2343597"/>
            <a:ext cx="309571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dirty="0"/>
              <a:t>最近</a:t>
            </a:r>
            <a:r>
              <a:rPr lang="en-US" altLang="zh-CN" sz="1100" dirty="0"/>
              <a:t>10</a:t>
            </a:r>
            <a:r>
              <a:rPr lang="zh-CN" altLang="en-US" sz="1100" dirty="0"/>
              <a:t>条历史消息（过滤工具调用，</a:t>
            </a:r>
            <a:endParaRPr lang="en-US" altLang="zh-CN" sz="1100" dirty="0"/>
          </a:p>
          <a:p>
            <a:r>
              <a:rPr lang="zh-CN" altLang="en-US" sz="1100" dirty="0"/>
              <a:t>伪工具调用文本，拒答类</a:t>
            </a:r>
            <a:r>
              <a:rPr lang="en-US" altLang="zh-CN" sz="1100" dirty="0"/>
              <a:t>assistant</a:t>
            </a:r>
            <a:r>
              <a:rPr lang="zh-CN" altLang="en-US" sz="1100" dirty="0"/>
              <a:t>等无效消息）</a:t>
            </a:r>
          </a:p>
        </p:txBody>
      </p:sp>
      <p:sp>
        <p:nvSpPr>
          <p:cNvPr id="77" name="流程图: 决策 76">
            <a:extLst>
              <a:ext uri="{FF2B5EF4-FFF2-40B4-BE49-F238E27FC236}">
                <a16:creationId xmlns:a16="http://schemas.microsoft.com/office/drawing/2014/main" id="{59F070B1-B1A9-C592-8C47-39BE9FC2EB50}"/>
              </a:ext>
            </a:extLst>
          </p:cNvPr>
          <p:cNvSpPr/>
          <p:nvPr/>
        </p:nvSpPr>
        <p:spPr>
          <a:xfrm>
            <a:off x="5765253" y="4402533"/>
            <a:ext cx="2972352" cy="905450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系统提示词</a:t>
            </a:r>
            <a:r>
              <a:rPr lang="en-US" altLang="zh-CN" sz="1000" dirty="0"/>
              <a:t>token &lt;= </a:t>
            </a:r>
            <a:r>
              <a:rPr lang="zh-CN" altLang="en-US" sz="1000" dirty="0"/>
              <a:t>模型最大输入</a:t>
            </a:r>
            <a:r>
              <a:rPr lang="en-US" altLang="zh-CN" sz="1000" dirty="0"/>
              <a:t>token – </a:t>
            </a:r>
            <a:r>
              <a:rPr lang="zh-CN" altLang="en-US" sz="1000" dirty="0"/>
              <a:t>当前问题</a:t>
            </a:r>
            <a:r>
              <a:rPr lang="en-US" altLang="zh-CN" sz="1000" dirty="0"/>
              <a:t>token</a:t>
            </a:r>
            <a:r>
              <a:rPr lang="zh-CN" altLang="en-US" sz="1000" dirty="0"/>
              <a:t>？</a:t>
            </a: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53D7F5B1-46C8-3C55-95BF-713701240966}"/>
              </a:ext>
            </a:extLst>
          </p:cNvPr>
          <p:cNvSpPr/>
          <p:nvPr/>
        </p:nvSpPr>
        <p:spPr>
          <a:xfrm>
            <a:off x="6549597" y="3431679"/>
            <a:ext cx="1429109" cy="500332"/>
          </a:xfrm>
          <a:prstGeom prst="rect">
            <a:avLst/>
          </a:prstGeom>
          <a:solidFill>
            <a:srgbClr val="7E99F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选择系统提示词模板</a:t>
            </a:r>
            <a:endParaRPr lang="en-US" altLang="zh-CN" sz="1400" dirty="0">
              <a:solidFill>
                <a:schemeClr val="tx1"/>
              </a:solidFill>
            </a:endParaRPr>
          </a:p>
        </p:txBody>
      </p:sp>
      <p:cxnSp>
        <p:nvCxnSpPr>
          <p:cNvPr id="80" name="直接箭头连接符 79">
            <a:extLst>
              <a:ext uri="{FF2B5EF4-FFF2-40B4-BE49-F238E27FC236}">
                <a16:creationId xmlns:a16="http://schemas.microsoft.com/office/drawing/2014/main" id="{995DCF5F-7F3A-3755-4C62-901CDB31A4F1}"/>
              </a:ext>
            </a:extLst>
          </p:cNvPr>
          <p:cNvCxnSpPr>
            <a:cxnSpLocks/>
            <a:stCxn id="78" idx="2"/>
            <a:endCxn id="77" idx="0"/>
          </p:cNvCxnSpPr>
          <p:nvPr/>
        </p:nvCxnSpPr>
        <p:spPr>
          <a:xfrm flipH="1">
            <a:off x="7251429" y="3932011"/>
            <a:ext cx="12723" cy="4705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连接符: 肘形 99">
            <a:extLst>
              <a:ext uri="{FF2B5EF4-FFF2-40B4-BE49-F238E27FC236}">
                <a16:creationId xmlns:a16="http://schemas.microsoft.com/office/drawing/2014/main" id="{355F3C32-A54F-6ED2-4A7B-7F54D81B43CA}"/>
              </a:ext>
            </a:extLst>
          </p:cNvPr>
          <p:cNvCxnSpPr>
            <a:cxnSpLocks/>
            <a:stCxn id="46" idx="2"/>
            <a:endCxn id="50" idx="3"/>
          </p:cNvCxnSpPr>
          <p:nvPr/>
        </p:nvCxnSpPr>
        <p:spPr>
          <a:xfrm rot="5400000">
            <a:off x="8150986" y="1873676"/>
            <a:ext cx="885392" cy="122995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直接箭头连接符 106">
            <a:extLst>
              <a:ext uri="{FF2B5EF4-FFF2-40B4-BE49-F238E27FC236}">
                <a16:creationId xmlns:a16="http://schemas.microsoft.com/office/drawing/2014/main" id="{315E46C8-76EE-F867-2159-7A1842293DA7}"/>
              </a:ext>
            </a:extLst>
          </p:cNvPr>
          <p:cNvCxnSpPr>
            <a:cxnSpLocks/>
            <a:stCxn id="49" idx="3"/>
            <a:endCxn id="50" idx="1"/>
          </p:cNvCxnSpPr>
          <p:nvPr/>
        </p:nvCxnSpPr>
        <p:spPr>
          <a:xfrm flipV="1">
            <a:off x="6191938" y="2931348"/>
            <a:ext cx="357659" cy="2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文本框 112">
            <a:extLst>
              <a:ext uri="{FF2B5EF4-FFF2-40B4-BE49-F238E27FC236}">
                <a16:creationId xmlns:a16="http://schemas.microsoft.com/office/drawing/2014/main" id="{7C90709B-1734-4A0C-AF04-D8BFF16DC511}"/>
              </a:ext>
            </a:extLst>
          </p:cNvPr>
          <p:cNvSpPr txBox="1"/>
          <p:nvPr/>
        </p:nvSpPr>
        <p:spPr>
          <a:xfrm>
            <a:off x="5477383" y="3973512"/>
            <a:ext cx="185328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00" dirty="0"/>
              <a:t>用</a:t>
            </a:r>
            <a:r>
              <a:rPr lang="en-US" altLang="zh-CN" sz="900" dirty="0"/>
              <a:t>TF-IDF</a:t>
            </a:r>
            <a:r>
              <a:rPr lang="zh-CN" altLang="en-US" sz="900" dirty="0"/>
              <a:t>方法给每条结果打分，从候选上下文块中抽出得分最高的放入系统提示词</a:t>
            </a:r>
          </a:p>
        </p:txBody>
      </p:sp>
      <p:cxnSp>
        <p:nvCxnSpPr>
          <p:cNvPr id="116" name="连接符: 肘形 115">
            <a:extLst>
              <a:ext uri="{FF2B5EF4-FFF2-40B4-BE49-F238E27FC236}">
                <a16:creationId xmlns:a16="http://schemas.microsoft.com/office/drawing/2014/main" id="{2CAEBD8D-1643-BD97-76A1-95AF124532CF}"/>
              </a:ext>
            </a:extLst>
          </p:cNvPr>
          <p:cNvCxnSpPr>
            <a:cxnSpLocks/>
            <a:stCxn id="77" idx="3"/>
          </p:cNvCxnSpPr>
          <p:nvPr/>
        </p:nvCxnSpPr>
        <p:spPr>
          <a:xfrm flipH="1" flipV="1">
            <a:off x="7251429" y="4073517"/>
            <a:ext cx="1486176" cy="781741"/>
          </a:xfrm>
          <a:prstGeom prst="bentConnector3">
            <a:avLst>
              <a:gd name="adj1" fmla="val -1538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连接符: 肘形 122">
            <a:extLst>
              <a:ext uri="{FF2B5EF4-FFF2-40B4-BE49-F238E27FC236}">
                <a16:creationId xmlns:a16="http://schemas.microsoft.com/office/drawing/2014/main" id="{22FA7170-AEFF-945F-CCC0-65EA3A0A6CF2}"/>
              </a:ext>
            </a:extLst>
          </p:cNvPr>
          <p:cNvCxnSpPr>
            <a:cxnSpLocks/>
            <a:stCxn id="77" idx="1"/>
            <a:endCxn id="60" idx="3"/>
          </p:cNvCxnSpPr>
          <p:nvPr/>
        </p:nvCxnSpPr>
        <p:spPr>
          <a:xfrm rot="10800000" flipV="1">
            <a:off x="2712269" y="4855257"/>
            <a:ext cx="3052985" cy="4393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文本框 125">
            <a:extLst>
              <a:ext uri="{FF2B5EF4-FFF2-40B4-BE49-F238E27FC236}">
                <a16:creationId xmlns:a16="http://schemas.microsoft.com/office/drawing/2014/main" id="{9BA0E96E-0B94-8EA9-B091-75B06AE181ED}"/>
              </a:ext>
            </a:extLst>
          </p:cNvPr>
          <p:cNvSpPr txBox="1"/>
          <p:nvPr/>
        </p:nvSpPr>
        <p:spPr>
          <a:xfrm>
            <a:off x="3312866" y="4538788"/>
            <a:ext cx="185178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dirty="0"/>
              <a:t>否，去掉最近插入的候选结果</a:t>
            </a:r>
          </a:p>
        </p:txBody>
      </p:sp>
      <p:sp>
        <p:nvSpPr>
          <p:cNvPr id="127" name="文本框 126">
            <a:extLst>
              <a:ext uri="{FF2B5EF4-FFF2-40B4-BE49-F238E27FC236}">
                <a16:creationId xmlns:a16="http://schemas.microsoft.com/office/drawing/2014/main" id="{9FBA00BD-977D-09E5-B99E-5657AF158690}"/>
              </a:ext>
            </a:extLst>
          </p:cNvPr>
          <p:cNvSpPr txBox="1"/>
          <p:nvPr/>
        </p:nvSpPr>
        <p:spPr>
          <a:xfrm>
            <a:off x="8962485" y="4309525"/>
            <a:ext cx="3129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dirty="0"/>
              <a:t>是</a:t>
            </a:r>
          </a:p>
        </p:txBody>
      </p:sp>
      <p:cxnSp>
        <p:nvCxnSpPr>
          <p:cNvPr id="143" name="直接箭头连接符 142">
            <a:extLst>
              <a:ext uri="{FF2B5EF4-FFF2-40B4-BE49-F238E27FC236}">
                <a16:creationId xmlns:a16="http://schemas.microsoft.com/office/drawing/2014/main" id="{E55049D1-24C6-F93E-B858-EEF4B1731D49}"/>
              </a:ext>
            </a:extLst>
          </p:cNvPr>
          <p:cNvCxnSpPr>
            <a:cxnSpLocks/>
            <a:stCxn id="50" idx="2"/>
            <a:endCxn id="78" idx="0"/>
          </p:cNvCxnSpPr>
          <p:nvPr/>
        </p:nvCxnSpPr>
        <p:spPr>
          <a:xfrm>
            <a:off x="7264152" y="3181514"/>
            <a:ext cx="0" cy="2501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9" name="矩形 148">
            <a:extLst>
              <a:ext uri="{FF2B5EF4-FFF2-40B4-BE49-F238E27FC236}">
                <a16:creationId xmlns:a16="http://schemas.microsoft.com/office/drawing/2014/main" id="{184F60D9-C326-B710-4350-1CB49BA93402}"/>
              </a:ext>
            </a:extLst>
          </p:cNvPr>
          <p:cNvSpPr/>
          <p:nvPr/>
        </p:nvSpPr>
        <p:spPr>
          <a:xfrm>
            <a:off x="32928" y="5439424"/>
            <a:ext cx="1112573" cy="362313"/>
          </a:xfrm>
          <a:prstGeom prst="rect">
            <a:avLst/>
          </a:prstGeom>
          <a:solidFill>
            <a:srgbClr val="75AF6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</a:rPr>
              <a:t>MCP</a:t>
            </a:r>
            <a:r>
              <a:rPr lang="zh-CN" altLang="en-US" sz="1400" b="1" dirty="0">
                <a:solidFill>
                  <a:schemeClr val="tx1"/>
                </a:solidFill>
              </a:rPr>
              <a:t>工具</a:t>
            </a:r>
            <a:endParaRPr lang="en-US" altLang="zh-CN" sz="1400" b="1" dirty="0">
              <a:solidFill>
                <a:schemeClr val="tx1"/>
              </a:solidFill>
            </a:endParaRPr>
          </a:p>
        </p:txBody>
      </p:sp>
      <p:sp>
        <p:nvSpPr>
          <p:cNvPr id="150" name="矩形 149">
            <a:extLst>
              <a:ext uri="{FF2B5EF4-FFF2-40B4-BE49-F238E27FC236}">
                <a16:creationId xmlns:a16="http://schemas.microsoft.com/office/drawing/2014/main" id="{CA361872-925E-E0A8-7281-742A0AA1E705}"/>
              </a:ext>
            </a:extLst>
          </p:cNvPr>
          <p:cNvSpPr/>
          <p:nvPr/>
        </p:nvSpPr>
        <p:spPr>
          <a:xfrm>
            <a:off x="1283158" y="5928411"/>
            <a:ext cx="1429109" cy="500332"/>
          </a:xfrm>
          <a:prstGeom prst="rect">
            <a:avLst/>
          </a:prstGeom>
          <a:solidFill>
            <a:srgbClr val="CC7C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询问模型是否要调用某些工具</a:t>
            </a:r>
            <a:endParaRPr lang="en-US" altLang="zh-CN" sz="1400" dirty="0">
              <a:solidFill>
                <a:schemeClr val="tx1"/>
              </a:solidFill>
            </a:endParaRPr>
          </a:p>
        </p:txBody>
      </p:sp>
      <p:cxnSp>
        <p:nvCxnSpPr>
          <p:cNvPr id="152" name="连接符: 肘形 151">
            <a:extLst>
              <a:ext uri="{FF2B5EF4-FFF2-40B4-BE49-F238E27FC236}">
                <a16:creationId xmlns:a16="http://schemas.microsoft.com/office/drawing/2014/main" id="{E6FB5ECC-88EF-44C0-DF4F-CD4B465713C7}"/>
              </a:ext>
            </a:extLst>
          </p:cNvPr>
          <p:cNvCxnSpPr>
            <a:cxnSpLocks/>
            <a:stCxn id="60" idx="2"/>
            <a:endCxn id="150" idx="0"/>
          </p:cNvCxnSpPr>
          <p:nvPr/>
        </p:nvCxnSpPr>
        <p:spPr>
          <a:xfrm rot="5400000">
            <a:off x="1588417" y="5519114"/>
            <a:ext cx="818594" cy="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连接符: 肘形 154">
            <a:extLst>
              <a:ext uri="{FF2B5EF4-FFF2-40B4-BE49-F238E27FC236}">
                <a16:creationId xmlns:a16="http://schemas.microsoft.com/office/drawing/2014/main" id="{F306B29E-3968-7713-B552-C505F221C027}"/>
              </a:ext>
            </a:extLst>
          </p:cNvPr>
          <p:cNvCxnSpPr>
            <a:cxnSpLocks/>
            <a:stCxn id="149" idx="3"/>
            <a:endCxn id="150" idx="0"/>
          </p:cNvCxnSpPr>
          <p:nvPr/>
        </p:nvCxnSpPr>
        <p:spPr>
          <a:xfrm>
            <a:off x="1145501" y="5620581"/>
            <a:ext cx="852212" cy="30783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7" name="流程图: 决策 156">
            <a:extLst>
              <a:ext uri="{FF2B5EF4-FFF2-40B4-BE49-F238E27FC236}">
                <a16:creationId xmlns:a16="http://schemas.microsoft.com/office/drawing/2014/main" id="{B594DA1C-38C8-8863-9B51-0662E6DFFA9D}"/>
              </a:ext>
            </a:extLst>
          </p:cNvPr>
          <p:cNvSpPr/>
          <p:nvPr/>
        </p:nvSpPr>
        <p:spPr>
          <a:xfrm>
            <a:off x="5777975" y="5732550"/>
            <a:ext cx="2972352" cy="905450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模型没有要调用的工具或者迭代次数超过最大值</a:t>
            </a:r>
          </a:p>
        </p:txBody>
      </p:sp>
      <p:cxnSp>
        <p:nvCxnSpPr>
          <p:cNvPr id="162" name="直接箭头连接符 161">
            <a:extLst>
              <a:ext uri="{FF2B5EF4-FFF2-40B4-BE49-F238E27FC236}">
                <a16:creationId xmlns:a16="http://schemas.microsoft.com/office/drawing/2014/main" id="{BEE98F4D-C5D1-DB50-9CEF-96958F0A74A3}"/>
              </a:ext>
            </a:extLst>
          </p:cNvPr>
          <p:cNvCxnSpPr>
            <a:cxnSpLocks/>
            <a:stCxn id="150" idx="3"/>
            <a:endCxn id="157" idx="1"/>
          </p:cNvCxnSpPr>
          <p:nvPr/>
        </p:nvCxnSpPr>
        <p:spPr>
          <a:xfrm>
            <a:off x="2712267" y="6178577"/>
            <a:ext cx="3065708" cy="66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6" name="矩形 165">
            <a:extLst>
              <a:ext uri="{FF2B5EF4-FFF2-40B4-BE49-F238E27FC236}">
                <a16:creationId xmlns:a16="http://schemas.microsoft.com/office/drawing/2014/main" id="{C6F10B8B-8D9C-F235-0762-524D354CAF91}"/>
              </a:ext>
            </a:extLst>
          </p:cNvPr>
          <p:cNvSpPr/>
          <p:nvPr/>
        </p:nvSpPr>
        <p:spPr>
          <a:xfrm>
            <a:off x="3603291" y="5376890"/>
            <a:ext cx="1429109" cy="500332"/>
          </a:xfrm>
          <a:prstGeom prst="rect">
            <a:avLst/>
          </a:prstGeom>
          <a:solidFill>
            <a:srgbClr val="CC7C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调用模型指定工具</a:t>
            </a:r>
            <a:endParaRPr lang="en-US" altLang="zh-CN" sz="1400" dirty="0">
              <a:solidFill>
                <a:schemeClr val="tx1"/>
              </a:solidFill>
            </a:endParaRPr>
          </a:p>
        </p:txBody>
      </p:sp>
      <p:cxnSp>
        <p:nvCxnSpPr>
          <p:cNvPr id="174" name="连接符: 肘形 173">
            <a:extLst>
              <a:ext uri="{FF2B5EF4-FFF2-40B4-BE49-F238E27FC236}">
                <a16:creationId xmlns:a16="http://schemas.microsoft.com/office/drawing/2014/main" id="{FD884590-6C21-6F7A-8E10-9EF73B30BADA}"/>
              </a:ext>
            </a:extLst>
          </p:cNvPr>
          <p:cNvCxnSpPr>
            <a:cxnSpLocks/>
            <a:stCxn id="166" idx="1"/>
            <a:endCxn id="150" idx="0"/>
          </p:cNvCxnSpPr>
          <p:nvPr/>
        </p:nvCxnSpPr>
        <p:spPr>
          <a:xfrm rot="10800000" flipV="1">
            <a:off x="1997713" y="5627055"/>
            <a:ext cx="1605578" cy="30135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连接符: 肘形 177">
            <a:extLst>
              <a:ext uri="{FF2B5EF4-FFF2-40B4-BE49-F238E27FC236}">
                <a16:creationId xmlns:a16="http://schemas.microsoft.com/office/drawing/2014/main" id="{6083F89D-14EC-E422-3A0B-215FEFA7D484}"/>
              </a:ext>
            </a:extLst>
          </p:cNvPr>
          <p:cNvCxnSpPr>
            <a:cxnSpLocks/>
            <a:stCxn id="157" idx="0"/>
            <a:endCxn id="166" idx="3"/>
          </p:cNvCxnSpPr>
          <p:nvPr/>
        </p:nvCxnSpPr>
        <p:spPr>
          <a:xfrm rot="16200000" flipV="1">
            <a:off x="6095529" y="4563927"/>
            <a:ext cx="105494" cy="223175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0" name="文本框 179">
            <a:extLst>
              <a:ext uri="{FF2B5EF4-FFF2-40B4-BE49-F238E27FC236}">
                <a16:creationId xmlns:a16="http://schemas.microsoft.com/office/drawing/2014/main" id="{181E30BD-1C7A-C026-4500-84AB834F574F}"/>
              </a:ext>
            </a:extLst>
          </p:cNvPr>
          <p:cNvSpPr txBox="1"/>
          <p:nvPr/>
        </p:nvSpPr>
        <p:spPr>
          <a:xfrm>
            <a:off x="5891970" y="5385724"/>
            <a:ext cx="4080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/>
              <a:t>否</a:t>
            </a:r>
          </a:p>
        </p:txBody>
      </p:sp>
      <p:sp>
        <p:nvSpPr>
          <p:cNvPr id="184" name="矩形 183">
            <a:extLst>
              <a:ext uri="{FF2B5EF4-FFF2-40B4-BE49-F238E27FC236}">
                <a16:creationId xmlns:a16="http://schemas.microsoft.com/office/drawing/2014/main" id="{315B0A2D-5EF6-F3B2-74D0-911EC76440D7}"/>
              </a:ext>
            </a:extLst>
          </p:cNvPr>
          <p:cNvSpPr/>
          <p:nvPr/>
        </p:nvSpPr>
        <p:spPr>
          <a:xfrm>
            <a:off x="9878474" y="5935109"/>
            <a:ext cx="1429109" cy="500332"/>
          </a:xfrm>
          <a:prstGeom prst="rect">
            <a:avLst/>
          </a:prstGeom>
          <a:solidFill>
            <a:srgbClr val="CC7C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</a:rPr>
              <a:t>最终回答生成请求</a:t>
            </a:r>
            <a:endParaRPr lang="en-US" altLang="zh-CN" sz="1400" b="1" dirty="0">
              <a:solidFill>
                <a:schemeClr val="tx1"/>
              </a:solidFill>
            </a:endParaRPr>
          </a:p>
        </p:txBody>
      </p:sp>
      <p:cxnSp>
        <p:nvCxnSpPr>
          <p:cNvPr id="186" name="直接箭头连接符 185">
            <a:extLst>
              <a:ext uri="{FF2B5EF4-FFF2-40B4-BE49-F238E27FC236}">
                <a16:creationId xmlns:a16="http://schemas.microsoft.com/office/drawing/2014/main" id="{BACD940E-CD6D-DA03-BCE9-A7219D6B7BC9}"/>
              </a:ext>
            </a:extLst>
          </p:cNvPr>
          <p:cNvCxnSpPr>
            <a:cxnSpLocks/>
            <a:stCxn id="157" idx="3"/>
            <a:endCxn id="184" idx="1"/>
          </p:cNvCxnSpPr>
          <p:nvPr/>
        </p:nvCxnSpPr>
        <p:spPr>
          <a:xfrm>
            <a:off x="8750327" y="6185275"/>
            <a:ext cx="112814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8" name="文本框 187">
            <a:extLst>
              <a:ext uri="{FF2B5EF4-FFF2-40B4-BE49-F238E27FC236}">
                <a16:creationId xmlns:a16="http://schemas.microsoft.com/office/drawing/2014/main" id="{98BCEE27-2E0E-DA9F-ABC4-3AA786827576}"/>
              </a:ext>
            </a:extLst>
          </p:cNvPr>
          <p:cNvSpPr txBox="1"/>
          <p:nvPr/>
        </p:nvSpPr>
        <p:spPr>
          <a:xfrm>
            <a:off x="9117609" y="5928410"/>
            <a:ext cx="3129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dirty="0"/>
              <a:t>是</a:t>
            </a:r>
          </a:p>
        </p:txBody>
      </p:sp>
      <p:sp>
        <p:nvSpPr>
          <p:cNvPr id="195" name="文本框 194">
            <a:extLst>
              <a:ext uri="{FF2B5EF4-FFF2-40B4-BE49-F238E27FC236}">
                <a16:creationId xmlns:a16="http://schemas.microsoft.com/office/drawing/2014/main" id="{F8C57D7C-5FD4-1E60-5F30-94C78EC84510}"/>
              </a:ext>
            </a:extLst>
          </p:cNvPr>
          <p:cNvSpPr txBox="1"/>
          <p:nvPr/>
        </p:nvSpPr>
        <p:spPr>
          <a:xfrm>
            <a:off x="5517647" y="1311807"/>
            <a:ext cx="15872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dirty="0"/>
              <a:t>文本切块以及</a:t>
            </a:r>
            <a:r>
              <a:rPr lang="en-US" altLang="zh-CN" sz="1000" dirty="0"/>
              <a:t>embedding</a:t>
            </a:r>
            <a:endParaRPr lang="zh-CN" altLang="en-US" sz="10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277F089-CDE8-CB8D-589B-924F38557F66}"/>
              </a:ext>
            </a:extLst>
          </p:cNvPr>
          <p:cNvSpPr txBox="1"/>
          <p:nvPr/>
        </p:nvSpPr>
        <p:spPr>
          <a:xfrm>
            <a:off x="2233680" y="5370408"/>
            <a:ext cx="113364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dirty="0"/>
              <a:t>返回工具</a:t>
            </a:r>
            <a:r>
              <a:rPr lang="zh-CN" altLang="en-US" sz="1000" dirty="0"/>
              <a:t>调用</a:t>
            </a:r>
            <a:r>
              <a:rPr lang="zh-CN" altLang="en-US" sz="900" dirty="0"/>
              <a:t>结果</a:t>
            </a:r>
          </a:p>
        </p:txBody>
      </p:sp>
    </p:spTree>
    <p:extLst>
      <p:ext uri="{BB962C8B-B14F-4D97-AF65-F5344CB8AC3E}">
        <p14:creationId xmlns:p14="http://schemas.microsoft.com/office/powerpoint/2010/main" val="16749987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文本框 29">
            <a:extLst>
              <a:ext uri="{FF2B5EF4-FFF2-40B4-BE49-F238E27FC236}">
                <a16:creationId xmlns:a16="http://schemas.microsoft.com/office/drawing/2014/main" id="{476DCF06-EF95-9693-64DC-5141597B674E}"/>
              </a:ext>
            </a:extLst>
          </p:cNvPr>
          <p:cNvSpPr txBox="1"/>
          <p:nvPr/>
        </p:nvSpPr>
        <p:spPr>
          <a:xfrm>
            <a:off x="144178" y="93626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界面组件</a:t>
            </a:r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F414388B-16AA-2E69-64D2-4D61204C29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6611" y="93626"/>
            <a:ext cx="8373374" cy="4158340"/>
          </a:xfrm>
          <a:prstGeom prst="rect">
            <a:avLst/>
          </a:prstGeom>
        </p:spPr>
      </p:pic>
      <p:sp>
        <p:nvSpPr>
          <p:cNvPr id="27" name="矩形 26">
            <a:extLst>
              <a:ext uri="{FF2B5EF4-FFF2-40B4-BE49-F238E27FC236}">
                <a16:creationId xmlns:a16="http://schemas.microsoft.com/office/drawing/2014/main" id="{131D6168-41ED-5B40-5EB9-E01FB5BF1DA9}"/>
              </a:ext>
            </a:extLst>
          </p:cNvPr>
          <p:cNvSpPr/>
          <p:nvPr/>
        </p:nvSpPr>
        <p:spPr>
          <a:xfrm>
            <a:off x="92015" y="3258970"/>
            <a:ext cx="1429109" cy="500332"/>
          </a:xfrm>
          <a:prstGeom prst="rect">
            <a:avLst/>
          </a:prstGeom>
          <a:solidFill>
            <a:srgbClr val="8D2F2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界面组件</a:t>
            </a:r>
            <a:endParaRPr lang="en-US" altLang="zh-CN" sz="1400" dirty="0">
              <a:solidFill>
                <a:schemeClr val="tx1"/>
              </a:solidFill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F172649C-401A-1B50-FDE3-7554F853E893}"/>
              </a:ext>
            </a:extLst>
          </p:cNvPr>
          <p:cNvSpPr/>
          <p:nvPr/>
        </p:nvSpPr>
        <p:spPr>
          <a:xfrm>
            <a:off x="2032949" y="93626"/>
            <a:ext cx="1377355" cy="406849"/>
          </a:xfrm>
          <a:prstGeom prst="rect">
            <a:avLst/>
          </a:prstGeom>
          <a:solidFill>
            <a:srgbClr val="4E194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err="1">
                <a:solidFill>
                  <a:schemeClr val="bg1"/>
                </a:solidFill>
              </a:rPr>
              <a:t>ChatComposer</a:t>
            </a:r>
            <a:endParaRPr lang="en-US" altLang="zh-CN" sz="1400" dirty="0">
              <a:solidFill>
                <a:schemeClr val="bg1"/>
              </a:solidFill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5B67DF2F-5118-4E47-2CDF-9E9FF8668DF5}"/>
              </a:ext>
            </a:extLst>
          </p:cNvPr>
          <p:cNvSpPr/>
          <p:nvPr/>
        </p:nvSpPr>
        <p:spPr>
          <a:xfrm>
            <a:off x="2032948" y="884962"/>
            <a:ext cx="1377355" cy="406849"/>
          </a:xfrm>
          <a:prstGeom prst="rect">
            <a:avLst/>
          </a:prstGeom>
          <a:solidFill>
            <a:srgbClr val="CB947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err="1">
                <a:solidFill>
                  <a:schemeClr val="tx1"/>
                </a:solidFill>
              </a:rPr>
              <a:t>ChatPane</a:t>
            </a:r>
            <a:endParaRPr lang="en-US" altLang="zh-CN" sz="1400" dirty="0">
              <a:solidFill>
                <a:schemeClr val="tx1"/>
              </a:solidFill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922B3E08-EB78-08C5-326C-4DCC92800EFC}"/>
              </a:ext>
            </a:extLst>
          </p:cNvPr>
          <p:cNvSpPr/>
          <p:nvPr/>
        </p:nvSpPr>
        <p:spPr>
          <a:xfrm>
            <a:off x="2032948" y="1676298"/>
            <a:ext cx="1377355" cy="406849"/>
          </a:xfrm>
          <a:prstGeom prst="rect">
            <a:avLst/>
          </a:prstGeom>
          <a:solidFill>
            <a:srgbClr val="8CBF8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err="1">
                <a:solidFill>
                  <a:schemeClr val="tx1"/>
                </a:solidFill>
              </a:rPr>
              <a:t>CreateProfileDialog</a:t>
            </a:r>
            <a:endParaRPr lang="en-US" altLang="zh-CN" sz="1400" dirty="0">
              <a:solidFill>
                <a:schemeClr val="tx1"/>
              </a:solidFill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E938278F-B1F1-9277-696E-CD2562195646}"/>
              </a:ext>
            </a:extLst>
          </p:cNvPr>
          <p:cNvSpPr/>
          <p:nvPr/>
        </p:nvSpPr>
        <p:spPr>
          <a:xfrm>
            <a:off x="2032947" y="2467634"/>
            <a:ext cx="1377355" cy="406849"/>
          </a:xfrm>
          <a:prstGeom prst="rect">
            <a:avLst/>
          </a:prstGeom>
          <a:solidFill>
            <a:srgbClr val="3E608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err="1">
                <a:solidFill>
                  <a:schemeClr val="tx1"/>
                </a:solidFill>
              </a:rPr>
              <a:t>KnowledgeUploader</a:t>
            </a:r>
            <a:endParaRPr lang="en-US" altLang="zh-CN" sz="1400" dirty="0">
              <a:solidFill>
                <a:schemeClr val="tx1"/>
              </a:solidFill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EB570DCF-1ED0-2956-EAC8-CC73A38878BD}"/>
              </a:ext>
            </a:extLst>
          </p:cNvPr>
          <p:cNvSpPr/>
          <p:nvPr/>
        </p:nvSpPr>
        <p:spPr>
          <a:xfrm>
            <a:off x="2032946" y="3258970"/>
            <a:ext cx="1377355" cy="406849"/>
          </a:xfrm>
          <a:prstGeom prst="rect">
            <a:avLst/>
          </a:prstGeom>
          <a:solidFill>
            <a:srgbClr val="90929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err="1">
                <a:solidFill>
                  <a:schemeClr val="tx1"/>
                </a:solidFill>
              </a:rPr>
              <a:t>MessageList</a:t>
            </a:r>
            <a:endParaRPr lang="en-US" altLang="zh-CN" sz="1400" dirty="0">
              <a:solidFill>
                <a:schemeClr val="tx1"/>
              </a:solidFill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D67CBE68-6475-4662-B7F6-82055B4D8291}"/>
              </a:ext>
            </a:extLst>
          </p:cNvPr>
          <p:cNvSpPr/>
          <p:nvPr/>
        </p:nvSpPr>
        <p:spPr>
          <a:xfrm>
            <a:off x="2032945" y="4050306"/>
            <a:ext cx="1377355" cy="406849"/>
          </a:xfrm>
          <a:prstGeom prst="rect">
            <a:avLst/>
          </a:prstGeom>
          <a:solidFill>
            <a:srgbClr val="4E194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err="1">
                <a:solidFill>
                  <a:schemeClr val="bg1"/>
                </a:solidFill>
              </a:rPr>
              <a:t>ProfileSidebar</a:t>
            </a:r>
            <a:endParaRPr lang="en-US" altLang="zh-CN" sz="1400" dirty="0">
              <a:solidFill>
                <a:schemeClr val="bg1"/>
              </a:solidFill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BAB1548B-2844-3A12-6925-3D7496926810}"/>
              </a:ext>
            </a:extLst>
          </p:cNvPr>
          <p:cNvSpPr/>
          <p:nvPr/>
        </p:nvSpPr>
        <p:spPr>
          <a:xfrm>
            <a:off x="2032945" y="4841642"/>
            <a:ext cx="1377355" cy="406849"/>
          </a:xfrm>
          <a:prstGeom prst="rect">
            <a:avLst/>
          </a:prstGeom>
          <a:solidFill>
            <a:srgbClr val="CB947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err="1">
                <a:solidFill>
                  <a:schemeClr val="tx1"/>
                </a:solidFill>
              </a:rPr>
              <a:t>SettingSheet</a:t>
            </a:r>
            <a:endParaRPr lang="en-US" altLang="zh-CN" sz="1400" dirty="0">
              <a:solidFill>
                <a:schemeClr val="tx1"/>
              </a:solidFill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0B7B7307-D365-9AF4-147B-FBF2F65F8F50}"/>
              </a:ext>
            </a:extLst>
          </p:cNvPr>
          <p:cNvSpPr/>
          <p:nvPr/>
        </p:nvSpPr>
        <p:spPr>
          <a:xfrm>
            <a:off x="2032944" y="5632978"/>
            <a:ext cx="1377355" cy="406849"/>
          </a:xfrm>
          <a:prstGeom prst="rect">
            <a:avLst/>
          </a:prstGeom>
          <a:solidFill>
            <a:srgbClr val="8CBF8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err="1">
                <a:solidFill>
                  <a:schemeClr val="tx1"/>
                </a:solidFill>
              </a:rPr>
              <a:t>SteamDealsCard</a:t>
            </a:r>
            <a:endParaRPr lang="en-US" altLang="zh-CN" sz="1400" dirty="0">
              <a:solidFill>
                <a:schemeClr val="tx1"/>
              </a:solidFill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0934B3B5-945A-C2A5-8A3B-FCC92968ADEA}"/>
              </a:ext>
            </a:extLst>
          </p:cNvPr>
          <p:cNvSpPr/>
          <p:nvPr/>
        </p:nvSpPr>
        <p:spPr>
          <a:xfrm>
            <a:off x="2032944" y="6424314"/>
            <a:ext cx="1377355" cy="406849"/>
          </a:xfrm>
          <a:prstGeom prst="rect">
            <a:avLst/>
          </a:prstGeom>
          <a:solidFill>
            <a:srgbClr val="3E608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err="1">
                <a:solidFill>
                  <a:schemeClr val="tx1"/>
                </a:solidFill>
              </a:rPr>
              <a:t>SteamOverviewCard</a:t>
            </a:r>
            <a:endParaRPr lang="en-US" altLang="zh-CN" sz="1400" dirty="0">
              <a:solidFill>
                <a:schemeClr val="tx1"/>
              </a:solidFill>
            </a:endParaRPr>
          </a:p>
        </p:txBody>
      </p:sp>
      <p:sp>
        <p:nvSpPr>
          <p:cNvPr id="51" name="左大括号 50">
            <a:extLst>
              <a:ext uri="{FF2B5EF4-FFF2-40B4-BE49-F238E27FC236}">
                <a16:creationId xmlns:a16="http://schemas.microsoft.com/office/drawing/2014/main" id="{D0321679-F6FC-F193-B86D-6924443426FD}"/>
              </a:ext>
            </a:extLst>
          </p:cNvPr>
          <p:cNvSpPr/>
          <p:nvPr/>
        </p:nvSpPr>
        <p:spPr>
          <a:xfrm>
            <a:off x="1610265" y="253042"/>
            <a:ext cx="373810" cy="6377796"/>
          </a:xfrm>
          <a:prstGeom prst="leftBrace">
            <a:avLst>
              <a:gd name="adj1" fmla="val 8333"/>
              <a:gd name="adj2" fmla="val 51113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5" name="图片 54">
            <a:extLst>
              <a:ext uri="{FF2B5EF4-FFF2-40B4-BE49-F238E27FC236}">
                <a16:creationId xmlns:a16="http://schemas.microsoft.com/office/drawing/2014/main" id="{47FC4268-B029-7E07-B7D3-83C5BC5BCD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7928" y="4376640"/>
            <a:ext cx="3402694" cy="2344193"/>
          </a:xfrm>
          <a:prstGeom prst="rect">
            <a:avLst/>
          </a:prstGeom>
        </p:spPr>
      </p:pic>
      <p:pic>
        <p:nvPicPr>
          <p:cNvPr id="57" name="图片 56">
            <a:extLst>
              <a:ext uri="{FF2B5EF4-FFF2-40B4-BE49-F238E27FC236}">
                <a16:creationId xmlns:a16="http://schemas.microsoft.com/office/drawing/2014/main" id="{6B2C3948-B250-9C36-9669-C5F0D50B50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3074" y="4375407"/>
            <a:ext cx="3402694" cy="2345426"/>
          </a:xfrm>
          <a:prstGeom prst="rect">
            <a:avLst/>
          </a:prstGeom>
        </p:spPr>
      </p:pic>
      <p:cxnSp>
        <p:nvCxnSpPr>
          <p:cNvPr id="59" name="直接箭头连接符 58">
            <a:extLst>
              <a:ext uri="{FF2B5EF4-FFF2-40B4-BE49-F238E27FC236}">
                <a16:creationId xmlns:a16="http://schemas.microsoft.com/office/drawing/2014/main" id="{C402A458-501F-9B5A-A98B-358D119C2524}"/>
              </a:ext>
            </a:extLst>
          </p:cNvPr>
          <p:cNvCxnSpPr>
            <a:cxnSpLocks/>
            <a:stCxn id="39" idx="3"/>
          </p:cNvCxnSpPr>
          <p:nvPr/>
        </p:nvCxnSpPr>
        <p:spPr>
          <a:xfrm>
            <a:off x="3410304" y="297051"/>
            <a:ext cx="1431990" cy="36308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直接箭头连接符 61">
            <a:extLst>
              <a:ext uri="{FF2B5EF4-FFF2-40B4-BE49-F238E27FC236}">
                <a16:creationId xmlns:a16="http://schemas.microsoft.com/office/drawing/2014/main" id="{D4507F96-F803-C46C-5701-1CA8DBE040AE}"/>
              </a:ext>
            </a:extLst>
          </p:cNvPr>
          <p:cNvCxnSpPr>
            <a:cxnSpLocks/>
            <a:stCxn id="40" idx="3"/>
          </p:cNvCxnSpPr>
          <p:nvPr/>
        </p:nvCxnSpPr>
        <p:spPr>
          <a:xfrm flipV="1">
            <a:off x="3410303" y="212785"/>
            <a:ext cx="1506754" cy="8756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直接箭头连接符 64">
            <a:extLst>
              <a:ext uri="{FF2B5EF4-FFF2-40B4-BE49-F238E27FC236}">
                <a16:creationId xmlns:a16="http://schemas.microsoft.com/office/drawing/2014/main" id="{E7AE2AD6-09E3-6EF3-14B3-12BB3CDD649F}"/>
              </a:ext>
            </a:extLst>
          </p:cNvPr>
          <p:cNvCxnSpPr>
            <a:cxnSpLocks/>
            <a:stCxn id="42" idx="3"/>
          </p:cNvCxnSpPr>
          <p:nvPr/>
        </p:nvCxnSpPr>
        <p:spPr>
          <a:xfrm>
            <a:off x="3410303" y="1879723"/>
            <a:ext cx="1431991" cy="26692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5B7A5205-704B-B89F-BAD8-CAF00B5EA9BC}"/>
              </a:ext>
            </a:extLst>
          </p:cNvPr>
          <p:cNvCxnSpPr>
            <a:cxnSpLocks/>
            <a:stCxn id="43" idx="3"/>
          </p:cNvCxnSpPr>
          <p:nvPr/>
        </p:nvCxnSpPr>
        <p:spPr>
          <a:xfrm flipV="1">
            <a:off x="3410302" y="701615"/>
            <a:ext cx="2001336" cy="19694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直接箭头连接符 71">
            <a:extLst>
              <a:ext uri="{FF2B5EF4-FFF2-40B4-BE49-F238E27FC236}">
                <a16:creationId xmlns:a16="http://schemas.microsoft.com/office/drawing/2014/main" id="{A96452FE-3689-919B-CC17-0AD1B3A6019C}"/>
              </a:ext>
            </a:extLst>
          </p:cNvPr>
          <p:cNvCxnSpPr>
            <a:cxnSpLocks/>
            <a:stCxn id="45" idx="3"/>
          </p:cNvCxnSpPr>
          <p:nvPr/>
        </p:nvCxnSpPr>
        <p:spPr>
          <a:xfrm flipV="1">
            <a:off x="3410301" y="2016358"/>
            <a:ext cx="3628854" cy="14460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直接箭头连接符 74">
            <a:extLst>
              <a:ext uri="{FF2B5EF4-FFF2-40B4-BE49-F238E27FC236}">
                <a16:creationId xmlns:a16="http://schemas.microsoft.com/office/drawing/2014/main" id="{5467F9B8-B7A2-EC90-F48E-0336C5110036}"/>
              </a:ext>
            </a:extLst>
          </p:cNvPr>
          <p:cNvCxnSpPr>
            <a:cxnSpLocks/>
            <a:stCxn id="46" idx="3"/>
          </p:cNvCxnSpPr>
          <p:nvPr/>
        </p:nvCxnSpPr>
        <p:spPr>
          <a:xfrm flipV="1">
            <a:off x="3410300" y="3665819"/>
            <a:ext cx="678627" cy="5879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直接箭头连接符 78">
            <a:extLst>
              <a:ext uri="{FF2B5EF4-FFF2-40B4-BE49-F238E27FC236}">
                <a16:creationId xmlns:a16="http://schemas.microsoft.com/office/drawing/2014/main" id="{985CEFD2-477E-6D1C-862E-0A9AD1301AFA}"/>
              </a:ext>
            </a:extLst>
          </p:cNvPr>
          <p:cNvCxnSpPr>
            <a:cxnSpLocks/>
            <a:stCxn id="48" idx="3"/>
          </p:cNvCxnSpPr>
          <p:nvPr/>
        </p:nvCxnSpPr>
        <p:spPr>
          <a:xfrm flipV="1">
            <a:off x="3410300" y="4687019"/>
            <a:ext cx="5825715" cy="3580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直接箭头连接符 81">
            <a:extLst>
              <a:ext uri="{FF2B5EF4-FFF2-40B4-BE49-F238E27FC236}">
                <a16:creationId xmlns:a16="http://schemas.microsoft.com/office/drawing/2014/main" id="{87F8C1D4-B80F-F49C-BDF5-987898BDD839}"/>
              </a:ext>
            </a:extLst>
          </p:cNvPr>
          <p:cNvCxnSpPr>
            <a:cxnSpLocks/>
            <a:stCxn id="49" idx="3"/>
          </p:cNvCxnSpPr>
          <p:nvPr/>
        </p:nvCxnSpPr>
        <p:spPr>
          <a:xfrm flipV="1">
            <a:off x="3410299" y="3036498"/>
            <a:ext cx="7798290" cy="27999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直接箭头连接符 84">
            <a:extLst>
              <a:ext uri="{FF2B5EF4-FFF2-40B4-BE49-F238E27FC236}">
                <a16:creationId xmlns:a16="http://schemas.microsoft.com/office/drawing/2014/main" id="{48488FE1-9B51-8218-3FA7-4514F2FBAEAF}"/>
              </a:ext>
            </a:extLst>
          </p:cNvPr>
          <p:cNvCxnSpPr>
            <a:cxnSpLocks/>
            <a:stCxn id="50" idx="3"/>
          </p:cNvCxnSpPr>
          <p:nvPr/>
        </p:nvCxnSpPr>
        <p:spPr>
          <a:xfrm flipV="1">
            <a:off x="3410299" y="437072"/>
            <a:ext cx="7855799" cy="61906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椭圆 1">
            <a:extLst>
              <a:ext uri="{FF2B5EF4-FFF2-40B4-BE49-F238E27FC236}">
                <a16:creationId xmlns:a16="http://schemas.microsoft.com/office/drawing/2014/main" id="{C15977E6-9312-24C1-6C89-A242F66700C5}"/>
              </a:ext>
            </a:extLst>
          </p:cNvPr>
          <p:cNvSpPr/>
          <p:nvPr/>
        </p:nvSpPr>
        <p:spPr>
          <a:xfrm>
            <a:off x="414867" y="4548996"/>
            <a:ext cx="955728" cy="1852430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异步更新策略</a:t>
            </a:r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C3096029-89B8-9E18-5DD2-3EA78F258F4A}"/>
              </a:ext>
            </a:extLst>
          </p:cNvPr>
          <p:cNvCxnSpPr>
            <a:cxnSpLocks/>
          </p:cNvCxnSpPr>
          <p:nvPr/>
        </p:nvCxnSpPr>
        <p:spPr>
          <a:xfrm>
            <a:off x="4405745" y="297051"/>
            <a:ext cx="752856" cy="43766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DAD5360B-4F72-27E4-73AF-DC2DB8F48A66}"/>
              </a:ext>
            </a:extLst>
          </p:cNvPr>
          <p:cNvCxnSpPr>
            <a:cxnSpLocks/>
          </p:cNvCxnSpPr>
          <p:nvPr/>
        </p:nvCxnSpPr>
        <p:spPr>
          <a:xfrm flipH="1">
            <a:off x="9975273" y="297051"/>
            <a:ext cx="785091" cy="42519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466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27" grpId="0" animBg="1"/>
      <p:bldP spid="39" grpId="0" animBg="1"/>
      <p:bldP spid="40" grpId="0" animBg="1"/>
      <p:bldP spid="42" grpId="0" animBg="1"/>
      <p:bldP spid="43" grpId="0" animBg="1"/>
      <p:bldP spid="45" grpId="0" animBg="1"/>
      <p:bldP spid="46" grpId="0" animBg="1"/>
      <p:bldP spid="48" grpId="0" animBg="1"/>
      <p:bldP spid="49" grpId="0" animBg="1"/>
      <p:bldP spid="50" grpId="0" animBg="1"/>
      <p:bldP spid="5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3E912F7F-43D5-B8C8-8309-41BDE83D45DC}"/>
              </a:ext>
            </a:extLst>
          </p:cNvPr>
          <p:cNvSpPr txBox="1"/>
          <p:nvPr/>
        </p:nvSpPr>
        <p:spPr>
          <a:xfrm>
            <a:off x="899698" y="645191"/>
            <a:ext cx="223651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 dirty="0"/>
              <a:t>多端使用</a:t>
            </a:r>
            <a:endParaRPr lang="zh-CN" altLang="zh-CN" sz="4000" b="1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8368C2F-906E-2F70-2492-992B06DEA012}"/>
              </a:ext>
            </a:extLst>
          </p:cNvPr>
          <p:cNvSpPr txBox="1"/>
          <p:nvPr/>
        </p:nvSpPr>
        <p:spPr>
          <a:xfrm>
            <a:off x="4092448" y="852676"/>
            <a:ext cx="50109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手机以及平板的界面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B3F2153-789F-8AAA-ABDC-C6A46CE0D6D4}"/>
              </a:ext>
            </a:extLst>
          </p:cNvPr>
          <p:cNvSpPr txBox="1"/>
          <p:nvPr/>
        </p:nvSpPr>
        <p:spPr>
          <a:xfrm>
            <a:off x="4153408" y="341745"/>
            <a:ext cx="74943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通过检测设备类型，使用</a:t>
            </a:r>
            <a:r>
              <a:rPr lang="en-US" altLang="zh-CN" dirty="0" err="1"/>
              <a:t>vue</a:t>
            </a:r>
            <a:r>
              <a:rPr lang="zh-CN" altLang="en-US" dirty="0"/>
              <a:t>的</a:t>
            </a:r>
            <a:r>
              <a:rPr lang="zh-CN" altLang="en-US" b="1" dirty="0"/>
              <a:t>条件渲染</a:t>
            </a:r>
            <a:r>
              <a:rPr lang="zh-CN" altLang="en-US" dirty="0"/>
              <a:t>和</a:t>
            </a:r>
            <a:r>
              <a:rPr lang="zh-CN" altLang="en-US" b="1" dirty="0"/>
              <a:t>切换</a:t>
            </a:r>
            <a:r>
              <a:rPr lang="en-US" altLang="zh-CN" b="1" dirty="0"/>
              <a:t>CSS</a:t>
            </a:r>
            <a:r>
              <a:rPr lang="zh-CN" altLang="en-US" b="1" dirty="0"/>
              <a:t>属性</a:t>
            </a:r>
            <a:r>
              <a:rPr lang="zh-CN" altLang="en-US" dirty="0"/>
              <a:t>实现多设备适配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663B6A50-1BC9-3502-0433-C9F65A8396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507" y="2022764"/>
            <a:ext cx="2020892" cy="4373418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D7C28724-0EF6-0511-6F70-24DDA60E7C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0370" y="2022764"/>
            <a:ext cx="6554123" cy="4096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9927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C1C5C3-4674-535B-A6FB-CBCC185BB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文本框 29">
            <a:extLst>
              <a:ext uri="{FF2B5EF4-FFF2-40B4-BE49-F238E27FC236}">
                <a16:creationId xmlns:a16="http://schemas.microsoft.com/office/drawing/2014/main" id="{84685482-B22D-DE51-F648-4204DC8BACCE}"/>
              </a:ext>
            </a:extLst>
          </p:cNvPr>
          <p:cNvSpPr txBox="1"/>
          <p:nvPr/>
        </p:nvSpPr>
        <p:spPr>
          <a:xfrm>
            <a:off x="184434" y="108743"/>
            <a:ext cx="52293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2800" b="1" dirty="0"/>
              <a:t>LoRA 微调 Steam 游戏助手模型</a:t>
            </a: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EFB9DB3D-2689-0390-53FD-FF4C06C242B0}"/>
              </a:ext>
            </a:extLst>
          </p:cNvPr>
          <p:cNvGrpSpPr/>
          <p:nvPr/>
        </p:nvGrpSpPr>
        <p:grpSpPr>
          <a:xfrm>
            <a:off x="6520262" y="1773169"/>
            <a:ext cx="4956000" cy="4261871"/>
            <a:chOff x="6204991" y="1813140"/>
            <a:chExt cx="5375588" cy="4807194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A9429EF3-D9F7-8E74-1425-832C20308A9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04992" y="4979510"/>
              <a:ext cx="5375587" cy="1640824"/>
            </a:xfrm>
            <a:prstGeom prst="rect">
              <a:avLst/>
            </a:prstGeom>
          </p:spPr>
        </p:pic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ADF23153-5FDF-FFB9-131E-309A446571A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b="47844"/>
            <a:stretch>
              <a:fillRect/>
            </a:stretch>
          </p:blipFill>
          <p:spPr>
            <a:xfrm>
              <a:off x="6204991" y="1813140"/>
              <a:ext cx="5375587" cy="1259526"/>
            </a:xfrm>
            <a:prstGeom prst="rect">
              <a:avLst/>
            </a:prstGeom>
          </p:spPr>
        </p:pic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5C4D9FB3-B8D7-367B-67C0-7875505E678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204992" y="2976931"/>
              <a:ext cx="5375587" cy="2006381"/>
            </a:xfrm>
            <a:prstGeom prst="rect">
              <a:avLst/>
            </a:prstGeom>
          </p:spPr>
        </p:pic>
      </p:grpSp>
      <p:sp>
        <p:nvSpPr>
          <p:cNvPr id="10" name="文本框 9">
            <a:extLst>
              <a:ext uri="{FF2B5EF4-FFF2-40B4-BE49-F238E27FC236}">
                <a16:creationId xmlns:a16="http://schemas.microsoft.com/office/drawing/2014/main" id="{3F07CF73-E7FB-A801-DB06-D3714C253E84}"/>
              </a:ext>
            </a:extLst>
          </p:cNvPr>
          <p:cNvSpPr txBox="1"/>
          <p:nvPr/>
        </p:nvSpPr>
        <p:spPr>
          <a:xfrm>
            <a:off x="184434" y="716221"/>
            <a:ext cx="70598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b="0" i="0" dirty="0">
                <a:solidFill>
                  <a:srgbClr val="333333"/>
                </a:solidFill>
                <a:effectLst/>
                <a:latin typeface="Helvetica Neue"/>
              </a:rPr>
              <a:t>基于 Qwen2.5-7B 基座模型，利用 QLoRA 技术微调出兼具 </a:t>
            </a:r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r>
              <a:rPr lang="zh-CN" altLang="zh-CN" b="1" i="0" dirty="0">
                <a:solidFill>
                  <a:srgbClr val="000000"/>
                </a:solidFill>
                <a:effectLst/>
                <a:latin typeface="Helvetica Neue"/>
              </a:rPr>
              <a:t>游戏精灵语气风格</a:t>
            </a:r>
            <a:r>
              <a:rPr lang="zh-CN" altLang="zh-CN" b="0" i="0" dirty="0">
                <a:solidFill>
                  <a:srgbClr val="333333"/>
                </a:solidFill>
                <a:effectLst/>
                <a:latin typeface="Helvetica Neue"/>
              </a:rPr>
              <a:t> 和 </a:t>
            </a:r>
            <a:r>
              <a:rPr lang="zh-CN" altLang="zh-CN" b="1" i="0" dirty="0">
                <a:solidFill>
                  <a:srgbClr val="000000"/>
                </a:solidFill>
                <a:effectLst/>
                <a:latin typeface="Helvetica Neue"/>
              </a:rPr>
              <a:t>Steam MCP 工具调用能力</a:t>
            </a:r>
            <a:r>
              <a:rPr lang="zh-CN" altLang="zh-CN" b="0" i="0" dirty="0">
                <a:solidFill>
                  <a:srgbClr val="333333"/>
                </a:solidFill>
                <a:effectLst/>
                <a:latin typeface="Helvetica Neue"/>
              </a:rPr>
              <a:t> 的个性化 AI 助手。</a:t>
            </a:r>
            <a:endParaRPr lang="zh-CN" altLang="en-US" dirty="0"/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C90C9DF5-3DDD-3B7D-EA42-5540F1F73C65}"/>
              </a:ext>
            </a:extLst>
          </p:cNvPr>
          <p:cNvGrpSpPr/>
          <p:nvPr/>
        </p:nvGrpSpPr>
        <p:grpSpPr>
          <a:xfrm>
            <a:off x="469959" y="1959192"/>
            <a:ext cx="5120640" cy="4206240"/>
            <a:chOff x="583373" y="1914274"/>
            <a:chExt cx="5120640" cy="4206240"/>
          </a:xfrm>
        </p:grpSpPr>
        <p:sp>
          <p:nvSpPr>
            <p:cNvPr id="12" name="Shape 5"/>
            <p:cNvSpPr/>
            <p:nvPr/>
          </p:nvSpPr>
          <p:spPr>
            <a:xfrm>
              <a:off x="583373" y="1914274"/>
              <a:ext cx="5120640" cy="4206240"/>
            </a:xfrm>
            <a:prstGeom prst="roundRect">
              <a:avLst>
                <a:gd name="adj" fmla="val 2174"/>
              </a:avLst>
            </a:prstGeom>
            <a:solidFill>
              <a:srgbClr val="F4F8FD"/>
            </a:solidFill>
            <a:effectLst>
              <a:outerShdw blurRad="114300" dist="38100" dir="5400000" algn="bl" rotWithShape="0">
                <a:srgbClr val="000000">
                  <a:alpha val="16000"/>
                </a:srgbClr>
              </a:outerShdw>
            </a:effectLst>
          </p:spPr>
        </p:sp>
        <p:sp>
          <p:nvSpPr>
            <p:cNvPr id="13" name="Text 6"/>
            <p:cNvSpPr/>
            <p:nvPr/>
          </p:nvSpPr>
          <p:spPr>
            <a:xfrm>
              <a:off x="914400" y="2011680"/>
              <a:ext cx="4572000" cy="36576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rgbClr val="0B1F3A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训练 Loss 曲线</a:t>
              </a:r>
              <a:endParaRPr lang="en-US" sz="1500" dirty="0"/>
            </a:p>
          </p:txBody>
        </p:sp>
        <p:pic>
          <p:nvPicPr>
            <p:cNvPr id="14" name="Image 0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57693" y="2639070"/>
              <a:ext cx="4572000" cy="2722859"/>
            </a:xfrm>
            <a:prstGeom prst="rect">
              <a:avLst/>
            </a:prstGeom>
          </p:spPr>
        </p:pic>
        <p:sp>
          <p:nvSpPr>
            <p:cNvPr id="15" name="Text 7"/>
            <p:cNvSpPr/>
            <p:nvPr/>
          </p:nvSpPr>
          <p:spPr>
            <a:xfrm>
              <a:off x="914400" y="5623560"/>
              <a:ext cx="4572000" cy="32004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i="1" dirty="0">
                  <a:solidFill>
                    <a:srgbClr val="5B6675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Loss 由 ~3.6 </a:t>
              </a:r>
              <a:r>
                <a:rPr lang="en-US" sz="1100" i="1" dirty="0" err="1">
                  <a:solidFill>
                    <a:srgbClr val="5B6675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稳定收敛至</a:t>
              </a:r>
              <a:r>
                <a:rPr lang="en-US" sz="1100" i="1" dirty="0">
                  <a:solidFill>
                    <a:srgbClr val="5B6675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 ~1.94，训练正常</a:t>
              </a:r>
              <a:endParaRPr lang="en-US" sz="1100" dirty="0"/>
            </a:p>
          </p:txBody>
        </p:sp>
      </p:grpSp>
      <p:sp>
        <p:nvSpPr>
          <p:cNvPr id="17" name="Text 8">
            <a:extLst>
              <a:ext uri="{FF2B5EF4-FFF2-40B4-BE49-F238E27FC236}">
                <a16:creationId xmlns:a16="http://schemas.microsoft.com/office/drawing/2014/main" id="{DC572E22-A166-C09C-C4D2-3623FC168CB9}"/>
              </a:ext>
            </a:extLst>
          </p:cNvPr>
          <p:cNvSpPr/>
          <p:nvPr/>
        </p:nvSpPr>
        <p:spPr>
          <a:xfrm>
            <a:off x="6520262" y="1362552"/>
            <a:ext cx="243211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微调后问答效果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5938446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2D68B1BC-F100-AB63-5ED3-68031D4BC2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512" y="4359194"/>
            <a:ext cx="5786416" cy="2249665"/>
          </a:xfr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589A2A8E-3966-5A4A-8251-7E3D1B57AF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885" y="1946015"/>
            <a:ext cx="5763670" cy="1995539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5636FBB4-4036-369E-828E-B6748149DD56}"/>
              </a:ext>
            </a:extLst>
          </p:cNvPr>
          <p:cNvSpPr txBox="1"/>
          <p:nvPr/>
        </p:nvSpPr>
        <p:spPr>
          <a:xfrm>
            <a:off x="760415" y="621792"/>
            <a:ext cx="34218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问题展示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C9BBCF9-F003-1A3F-25AB-2CC572886682}"/>
              </a:ext>
            </a:extLst>
          </p:cNvPr>
          <p:cNvSpPr txBox="1"/>
          <p:nvPr/>
        </p:nvSpPr>
        <p:spPr>
          <a:xfrm>
            <a:off x="6782816" y="621792"/>
            <a:ext cx="4868672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b="1" dirty="0">
                <a:solidFill>
                  <a:srgbClr val="FF0000"/>
                </a:solidFill>
              </a:rPr>
              <a:t>现象：</a:t>
            </a:r>
            <a:r>
              <a:rPr lang="en-US" altLang="zh-CN" b="1" dirty="0">
                <a:solidFill>
                  <a:srgbClr val="FF0000"/>
                </a:solidFill>
              </a:rPr>
              <a:t>AI </a:t>
            </a:r>
            <a:r>
              <a:rPr lang="zh-CN" altLang="en-US" b="1" dirty="0">
                <a:solidFill>
                  <a:srgbClr val="FF0000"/>
                </a:solidFill>
              </a:rPr>
              <a:t>回复末尾附带幻觉代码片段</a:t>
            </a:r>
          </a:p>
          <a:p>
            <a:pPr algn="just"/>
            <a:endParaRPr lang="zh-CN" altLang="en-US" dirty="0"/>
          </a:p>
          <a:p>
            <a:pPr algn="just"/>
            <a:r>
              <a:rPr lang="zh-CN" altLang="en-US" dirty="0"/>
              <a:t>根因：微调模型 </a:t>
            </a:r>
            <a:r>
              <a:rPr lang="en-US" altLang="zh-CN" dirty="0"/>
              <a:t>game-assistant</a:t>
            </a:r>
            <a:r>
              <a:rPr lang="zh-CN" altLang="en-US" dirty="0"/>
              <a:t>（</a:t>
            </a:r>
            <a:r>
              <a:rPr lang="en-US" altLang="zh-CN" dirty="0"/>
              <a:t>1.5B</a:t>
            </a:r>
            <a:r>
              <a:rPr lang="zh-CN" altLang="en-US" dirty="0"/>
              <a:t>）不支持 </a:t>
            </a:r>
            <a:r>
              <a:rPr lang="en-US" altLang="zh-CN" dirty="0" err="1"/>
              <a:t>Ollama</a:t>
            </a:r>
            <a:r>
              <a:rPr lang="en-US" altLang="zh-CN" dirty="0"/>
              <a:t> </a:t>
            </a:r>
            <a:r>
              <a:rPr lang="zh-CN" altLang="en-US" dirty="0"/>
              <a:t>原生 </a:t>
            </a:r>
            <a:r>
              <a:rPr lang="en-US" altLang="zh-CN" dirty="0"/>
              <a:t>function calling</a:t>
            </a:r>
            <a:r>
              <a:rPr lang="zh-CN" altLang="en-US" dirty="0"/>
              <a:t>，模型把工具调用输出成了 </a:t>
            </a:r>
            <a:r>
              <a:rPr lang="en-US" altLang="zh-CN" dirty="0"/>
              <a:t>Python </a:t>
            </a:r>
            <a:r>
              <a:rPr lang="zh-CN" altLang="en-US" dirty="0"/>
              <a:t>伪代码</a:t>
            </a:r>
          </a:p>
          <a:p>
            <a:pPr algn="just"/>
            <a:endParaRPr lang="zh-CN" altLang="en-US" dirty="0"/>
          </a:p>
          <a:p>
            <a:pPr algn="just"/>
            <a:r>
              <a:rPr lang="zh-CN" altLang="en-US" b="1" dirty="0"/>
              <a:t>解决：切回 </a:t>
            </a:r>
            <a:r>
              <a:rPr lang="en-US" altLang="zh-CN" b="1" dirty="0"/>
              <a:t>qwen3:8b</a:t>
            </a:r>
            <a:r>
              <a:rPr lang="zh-CN" altLang="en-US" b="1" dirty="0"/>
              <a:t>（原生支持 </a:t>
            </a:r>
            <a:r>
              <a:rPr lang="en-US" altLang="zh-CN" b="1" dirty="0" err="1"/>
              <a:t>tool_calls</a:t>
            </a:r>
            <a:r>
              <a:rPr lang="zh-CN" altLang="en-US" b="1" dirty="0"/>
              <a:t>），风格靠 </a:t>
            </a:r>
            <a:r>
              <a:rPr lang="en-US" altLang="zh-CN" b="1" dirty="0"/>
              <a:t>System Prompt </a:t>
            </a:r>
            <a:r>
              <a:rPr lang="zh-CN" altLang="en-US" b="1" dirty="0"/>
              <a:t>驱动</a:t>
            </a:r>
          </a:p>
          <a:p>
            <a:pPr algn="just"/>
            <a:endParaRPr lang="zh-CN" altLang="en-US" dirty="0"/>
          </a:p>
          <a:p>
            <a:pPr algn="just"/>
            <a:r>
              <a:rPr lang="zh-CN" altLang="en-US" b="1" dirty="0">
                <a:solidFill>
                  <a:srgbClr val="FF0000"/>
                </a:solidFill>
              </a:rPr>
              <a:t>现象：</a:t>
            </a:r>
            <a:r>
              <a:rPr lang="en-US" altLang="zh-CN" b="1" dirty="0">
                <a:solidFill>
                  <a:srgbClr val="FF0000"/>
                </a:solidFill>
              </a:rPr>
              <a:t>MCP </a:t>
            </a:r>
            <a:r>
              <a:rPr lang="zh-CN" altLang="en-US" b="1" dirty="0">
                <a:solidFill>
                  <a:srgbClr val="FF0000"/>
                </a:solidFill>
              </a:rPr>
              <a:t>工具被正确触发，但结果始终为 </a:t>
            </a:r>
            <a:r>
              <a:rPr lang="en-US" altLang="zh-CN" b="1" dirty="0">
                <a:solidFill>
                  <a:srgbClr val="FF0000"/>
                </a:solidFill>
              </a:rPr>
              <a:t>"fetch failed"</a:t>
            </a:r>
          </a:p>
          <a:p>
            <a:pPr algn="just"/>
            <a:endParaRPr lang="en-US" altLang="zh-CN" dirty="0"/>
          </a:p>
          <a:p>
            <a:pPr algn="just"/>
            <a:r>
              <a:rPr lang="zh-CN" altLang="en-US" dirty="0"/>
              <a:t>根因：</a:t>
            </a:r>
            <a:r>
              <a:rPr lang="en-US" altLang="zh-CN" dirty="0"/>
              <a:t>Steam API </a:t>
            </a:r>
            <a:r>
              <a:rPr lang="zh-CN" altLang="en-US" dirty="0"/>
              <a:t>域名在国内被墙（</a:t>
            </a:r>
            <a:r>
              <a:rPr lang="en-US" altLang="zh-CN" dirty="0"/>
              <a:t>TCP RST</a:t>
            </a:r>
            <a:r>
              <a:rPr lang="zh-CN" altLang="en-US" dirty="0"/>
              <a:t>），三个域名全部超时：</a:t>
            </a:r>
          </a:p>
          <a:p>
            <a:pPr algn="just"/>
            <a:endParaRPr lang="zh-CN" altLang="en-US" dirty="0"/>
          </a:p>
          <a:p>
            <a:pPr algn="just"/>
            <a:endParaRPr lang="zh-CN" altLang="en-US" dirty="0"/>
          </a:p>
          <a:p>
            <a:pPr algn="just"/>
            <a:r>
              <a:rPr lang="en-US" altLang="zh-CN" dirty="0"/>
              <a:t>api.steampowered.com   → </a:t>
            </a:r>
            <a:r>
              <a:rPr lang="zh-CN" altLang="en-US" dirty="0"/>
              <a:t>超时</a:t>
            </a:r>
          </a:p>
          <a:p>
            <a:pPr algn="just"/>
            <a:r>
              <a:rPr lang="en-US" altLang="zh-CN" dirty="0"/>
              <a:t>steamcommunity.com     → </a:t>
            </a:r>
            <a:r>
              <a:rPr lang="zh-CN" altLang="en-US" dirty="0"/>
              <a:t>超时  </a:t>
            </a:r>
          </a:p>
          <a:p>
            <a:pPr algn="just"/>
            <a:r>
              <a:rPr lang="en-US" altLang="zh-CN" dirty="0"/>
              <a:t>store.steampowered.com → </a:t>
            </a:r>
            <a:r>
              <a:rPr lang="zh-CN" altLang="en-US" dirty="0"/>
              <a:t>超时</a:t>
            </a:r>
          </a:p>
          <a:p>
            <a:pPr algn="just"/>
            <a:r>
              <a:rPr lang="zh-CN" altLang="en-US" b="1" dirty="0"/>
              <a:t>解决：配置代理 </a:t>
            </a:r>
            <a:r>
              <a:rPr lang="en-US" altLang="zh-CN" b="1" dirty="0"/>
              <a:t>http://127.0.0.1:7890</a:t>
            </a:r>
            <a:r>
              <a:rPr lang="zh-CN" altLang="en-US" b="1" dirty="0"/>
              <a:t>（</a:t>
            </a:r>
            <a:r>
              <a:rPr lang="en-US" altLang="zh-CN" b="1" dirty="0"/>
              <a:t>Clash/V2Ray</a:t>
            </a:r>
            <a:r>
              <a:rPr lang="zh-CN" altLang="en-US" b="1" dirty="0"/>
              <a:t>），在 </a:t>
            </a:r>
            <a:r>
              <a:rPr lang="en-US" altLang="zh-CN" b="1" dirty="0"/>
              <a:t>profile </a:t>
            </a:r>
            <a:r>
              <a:rPr lang="zh-CN" altLang="en-US" b="1" dirty="0"/>
              <a:t>中加 </a:t>
            </a:r>
            <a:r>
              <a:rPr lang="en-US" altLang="zh-CN" b="1" dirty="0"/>
              <a:t>proxy </a:t>
            </a:r>
            <a:r>
              <a:rPr lang="zh-CN" altLang="en-US" b="1" dirty="0"/>
              <a:t>字段</a:t>
            </a:r>
          </a:p>
        </p:txBody>
      </p:sp>
    </p:spTree>
    <p:extLst>
      <p:ext uri="{BB962C8B-B14F-4D97-AF65-F5344CB8AC3E}">
        <p14:creationId xmlns:p14="http://schemas.microsoft.com/office/powerpoint/2010/main" val="9926065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文本框 29">
            <a:extLst>
              <a:ext uri="{FF2B5EF4-FFF2-40B4-BE49-F238E27FC236}">
                <a16:creationId xmlns:a16="http://schemas.microsoft.com/office/drawing/2014/main" id="{476DCF06-EF95-9693-64DC-5141597B674E}"/>
              </a:ext>
            </a:extLst>
          </p:cNvPr>
          <p:cNvSpPr txBox="1"/>
          <p:nvPr/>
        </p:nvSpPr>
        <p:spPr>
          <a:xfrm>
            <a:off x="977298" y="552858"/>
            <a:ext cx="27382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不足和未来工作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C45BED0-BB45-EBD2-7872-FCC75BEBE160}"/>
              </a:ext>
            </a:extLst>
          </p:cNvPr>
          <p:cNvSpPr txBox="1"/>
          <p:nvPr/>
        </p:nvSpPr>
        <p:spPr>
          <a:xfrm>
            <a:off x="530258" y="1497392"/>
            <a:ext cx="10905550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zh-CN" altLang="en-US" b="1" dirty="0"/>
              <a:t>完善上下文 </a:t>
            </a:r>
            <a:r>
              <a:rPr lang="en-US" altLang="zh-CN" b="1" dirty="0"/>
              <a:t>token </a:t>
            </a:r>
            <a:r>
              <a:rPr lang="zh-CN" altLang="en-US" b="1" dirty="0"/>
              <a:t>管理</a:t>
            </a:r>
            <a:r>
              <a:rPr lang="zh-CN" altLang="en-US" dirty="0"/>
              <a:t>：当前 </a:t>
            </a:r>
            <a:r>
              <a:rPr lang="en-US" altLang="zh-CN" dirty="0"/>
              <a:t>token </a:t>
            </a:r>
            <a:r>
              <a:rPr lang="zh-CN" altLang="en-US" dirty="0"/>
              <a:t>预算主要覆盖用户问题、历史消息与知识库上下文，后续可将工具</a:t>
            </a:r>
            <a:endParaRPr lang="en-US" altLang="zh-CN" dirty="0"/>
          </a:p>
          <a:p>
            <a:r>
              <a:rPr lang="zh-CN" altLang="en-US" dirty="0"/>
              <a:t>定义、工具调用参数和工具返回结果也纳入统一预算控制。</a:t>
            </a:r>
          </a:p>
          <a:p>
            <a:endParaRPr lang="zh-CN" altLang="en-US" dirty="0"/>
          </a:p>
          <a:p>
            <a:r>
              <a:rPr lang="en-US" altLang="zh-CN" dirty="0"/>
              <a:t>2. </a:t>
            </a:r>
            <a:r>
              <a:rPr lang="zh-CN" altLang="en-US" b="1" dirty="0"/>
              <a:t>增强 </a:t>
            </a:r>
            <a:r>
              <a:rPr lang="en-US" altLang="zh-CN" b="1" dirty="0"/>
              <a:t>Agent </a:t>
            </a:r>
            <a:r>
              <a:rPr lang="zh-CN" altLang="en-US" b="1" dirty="0"/>
              <a:t>推理框架</a:t>
            </a:r>
            <a:r>
              <a:rPr lang="zh-CN" altLang="en-US" dirty="0"/>
              <a:t>：后续可引入 </a:t>
            </a:r>
            <a:r>
              <a:rPr lang="en-US" altLang="zh-CN" dirty="0" err="1"/>
              <a:t>ReAct</a:t>
            </a:r>
            <a:r>
              <a:rPr lang="zh-CN" altLang="en-US" dirty="0"/>
              <a:t>、</a:t>
            </a:r>
            <a:r>
              <a:rPr lang="en-US" altLang="zh-CN" dirty="0" err="1"/>
              <a:t>CoT</a:t>
            </a:r>
            <a:r>
              <a:rPr lang="en-US" altLang="zh-CN" dirty="0"/>
              <a:t> </a:t>
            </a:r>
            <a:r>
              <a:rPr lang="zh-CN" altLang="en-US" dirty="0"/>
              <a:t>或更结构化的多步规划机制，提高复杂任务下的工具选</a:t>
            </a:r>
            <a:endParaRPr lang="en-US" altLang="zh-CN" dirty="0"/>
          </a:p>
          <a:p>
            <a:r>
              <a:rPr lang="zh-CN" altLang="en-US" dirty="0"/>
              <a:t>择、调用顺序和错误恢复能力。</a:t>
            </a:r>
          </a:p>
          <a:p>
            <a:endParaRPr lang="zh-CN" altLang="en-US" dirty="0"/>
          </a:p>
          <a:p>
            <a:r>
              <a:rPr lang="en-US" altLang="zh-CN" dirty="0"/>
              <a:t>3. </a:t>
            </a:r>
            <a:r>
              <a:rPr lang="zh-CN" altLang="en-US" b="1" dirty="0"/>
              <a:t>提升本地数据安全</a:t>
            </a:r>
            <a:r>
              <a:rPr lang="zh-CN" altLang="en-US" dirty="0"/>
              <a:t>：对本地保存的 </a:t>
            </a:r>
            <a:r>
              <a:rPr lang="en-US" altLang="zh-CN" dirty="0"/>
              <a:t>API Key</a:t>
            </a:r>
            <a:r>
              <a:rPr lang="zh-CN" altLang="en-US" dirty="0"/>
              <a:t>、</a:t>
            </a:r>
            <a:r>
              <a:rPr lang="en-US" altLang="zh-CN" dirty="0"/>
              <a:t>Steam Key</a:t>
            </a:r>
            <a:r>
              <a:rPr lang="zh-CN" altLang="en-US" dirty="0"/>
              <a:t>、用户配置和聊天历史进行加密存储，并完善敏</a:t>
            </a:r>
            <a:endParaRPr lang="en-US" altLang="zh-CN" dirty="0"/>
          </a:p>
          <a:p>
            <a:r>
              <a:rPr lang="zh-CN" altLang="en-US" dirty="0"/>
              <a:t>感日志脱敏机制。</a:t>
            </a:r>
          </a:p>
          <a:p>
            <a:endParaRPr lang="zh-CN" altLang="en-US" dirty="0"/>
          </a:p>
          <a:p>
            <a:r>
              <a:rPr lang="en-US" altLang="zh-CN" dirty="0"/>
              <a:t>4. </a:t>
            </a:r>
            <a:r>
              <a:rPr lang="zh-CN" altLang="en-US" b="1" dirty="0"/>
              <a:t>完善工程化能力</a:t>
            </a:r>
            <a:r>
              <a:rPr lang="zh-CN" altLang="en-US" dirty="0"/>
              <a:t>：补充自动化测试、端到端测试、</a:t>
            </a:r>
            <a:r>
              <a:rPr lang="en-US" altLang="zh-CN" dirty="0"/>
              <a:t>CI/CD</a:t>
            </a:r>
            <a:r>
              <a:rPr lang="zh-CN" altLang="en-US" dirty="0"/>
              <a:t>、</a:t>
            </a:r>
            <a:r>
              <a:rPr lang="en-US" altLang="zh-CN" dirty="0"/>
              <a:t>Docker Compose </a:t>
            </a:r>
            <a:r>
              <a:rPr lang="zh-CN" altLang="en-US" dirty="0"/>
              <a:t>一键启动，以及前后端与 </a:t>
            </a:r>
            <a:endParaRPr lang="en-US" altLang="zh-CN" dirty="0"/>
          </a:p>
          <a:p>
            <a:r>
              <a:rPr lang="en-US" altLang="zh-CN" dirty="0"/>
              <a:t>MCP Server </a:t>
            </a:r>
            <a:r>
              <a:rPr lang="zh-CN" altLang="en-US" dirty="0"/>
              <a:t>的健康检查和日志面板。</a:t>
            </a:r>
          </a:p>
        </p:txBody>
      </p:sp>
    </p:spTree>
    <p:extLst>
      <p:ext uri="{BB962C8B-B14F-4D97-AF65-F5344CB8AC3E}">
        <p14:creationId xmlns:p14="http://schemas.microsoft.com/office/powerpoint/2010/main" val="16613507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文本框 29">
            <a:extLst>
              <a:ext uri="{FF2B5EF4-FFF2-40B4-BE49-F238E27FC236}">
                <a16:creationId xmlns:a16="http://schemas.microsoft.com/office/drawing/2014/main" id="{476DCF06-EF95-9693-64DC-5141597B674E}"/>
              </a:ext>
            </a:extLst>
          </p:cNvPr>
          <p:cNvSpPr txBox="1"/>
          <p:nvPr/>
        </p:nvSpPr>
        <p:spPr>
          <a:xfrm>
            <a:off x="1217074" y="1125882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 dirty="0"/>
              <a:t>分工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2FAB2B6-64A7-D176-A4A0-EB5162B4747D}"/>
              </a:ext>
            </a:extLst>
          </p:cNvPr>
          <p:cNvSpPr txBox="1"/>
          <p:nvPr/>
        </p:nvSpPr>
        <p:spPr>
          <a:xfrm>
            <a:off x="896018" y="2044005"/>
            <a:ext cx="10785325" cy="1965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/>
              <a:t>卢昭阳：前后端，</a:t>
            </a:r>
            <a:r>
              <a:rPr lang="en-US" altLang="zh-CN" sz="2800" dirty="0"/>
              <a:t>Agent</a:t>
            </a:r>
            <a:r>
              <a:rPr lang="zh-CN" altLang="en-US" sz="2800" dirty="0"/>
              <a:t>开发</a:t>
            </a:r>
            <a:endParaRPr lang="en-US" altLang="zh-CN" sz="2800" dirty="0"/>
          </a:p>
          <a:p>
            <a:pPr>
              <a:lnSpc>
                <a:spcPct val="150000"/>
              </a:lnSpc>
            </a:pPr>
            <a:r>
              <a:rPr lang="zh-CN" altLang="en-US" sz="2800" dirty="0"/>
              <a:t>朱佳乐：</a:t>
            </a:r>
            <a:r>
              <a:rPr lang="en-US" altLang="zh-CN" sz="2800" dirty="0"/>
              <a:t> </a:t>
            </a:r>
            <a:r>
              <a:rPr lang="en-US" altLang="zh-CN" sz="2800" dirty="0" err="1"/>
              <a:t>LoRA</a:t>
            </a:r>
            <a:r>
              <a:rPr lang="zh-CN" altLang="en-US" sz="2800" dirty="0"/>
              <a:t>微调；测试优化模型，前后端功能鲁棒性；多端适配</a:t>
            </a:r>
            <a:endParaRPr lang="en-US" altLang="zh-CN" sz="2800" dirty="0"/>
          </a:p>
          <a:p>
            <a:pPr>
              <a:lnSpc>
                <a:spcPct val="150000"/>
              </a:lnSpc>
            </a:pPr>
            <a:r>
              <a:rPr lang="zh-CN" altLang="en-US" sz="2800" dirty="0"/>
              <a:t>胡启超：测试优化模型，前后端功能完整性；</a:t>
            </a:r>
            <a:r>
              <a:rPr lang="en-US" altLang="zh-CN" sz="2800" dirty="0"/>
              <a:t>MCP</a:t>
            </a:r>
            <a:r>
              <a:rPr lang="zh-CN" altLang="en-US" sz="2800" dirty="0"/>
              <a:t>工具开发</a:t>
            </a:r>
          </a:p>
        </p:txBody>
      </p:sp>
    </p:spTree>
    <p:extLst>
      <p:ext uri="{BB962C8B-B14F-4D97-AF65-F5344CB8AC3E}">
        <p14:creationId xmlns:p14="http://schemas.microsoft.com/office/powerpoint/2010/main" val="12985285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334</TotalTime>
  <Words>932</Words>
  <Application>Microsoft Office PowerPoint</Application>
  <PresentationFormat>宽屏</PresentationFormat>
  <Paragraphs>139</Paragraphs>
  <Slides>9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4" baseType="lpstr">
      <vt:lpstr>Helvetica Neue</vt:lpstr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卢昭阳</dc:creator>
  <cp:lastModifiedBy>卢昭阳</cp:lastModifiedBy>
  <cp:revision>22</cp:revision>
  <dcterms:created xsi:type="dcterms:W3CDTF">2026-06-15T07:34:43Z</dcterms:created>
  <dcterms:modified xsi:type="dcterms:W3CDTF">2026-06-17T12:40:33Z</dcterms:modified>
</cp:coreProperties>
</file>