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61" r:id="rId2"/>
    <p:sldId id="258" r:id="rId3"/>
    <p:sldId id="259" r:id="rId4"/>
    <p:sldId id="260" r:id="rId5"/>
    <p:sldId id="263" r:id="rId6"/>
    <p:sldId id="262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E608D"/>
    <a:srgbClr val="8CBF87"/>
    <a:srgbClr val="CB9475"/>
    <a:srgbClr val="4E1947"/>
    <a:srgbClr val="909291"/>
    <a:srgbClr val="8D2F25"/>
    <a:srgbClr val="FFFFFF"/>
    <a:srgbClr val="CC7C71"/>
    <a:srgbClr val="E29135"/>
    <a:srgbClr val="7E99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404" autoAdjust="0"/>
  </p:normalViewPr>
  <p:slideViewPr>
    <p:cSldViewPr snapToGrid="0">
      <p:cViewPr varScale="1">
        <p:scale>
          <a:sx n="111" d="100"/>
          <a:sy n="111" d="100"/>
        </p:scale>
        <p:origin x="104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9A81FB-4F36-465C-B86A-31257373A925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DB8E75-8AA8-43C4-8332-1EA0F48839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7009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DB8E75-8AA8-43C4-8332-1EA0F488397E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18815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DB8E75-8AA8-43C4-8332-1EA0F488397E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4049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E19770-90C6-67F1-9195-0B4892E13B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035C90B-A18C-585C-EA46-F5E1867A22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DCB8D6-ACF3-FF34-31A2-EEB5E47B1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A38FC5-9BBB-DEB6-B67F-AE93813C0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CAAB58-4707-ACAA-0F14-B06ADA9A2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0617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EB7962-D87D-55F6-47DB-3448B4BDB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CE4976A-A93F-8EE3-183B-82E69BC1B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A0EA9A-5B55-4ED2-EB19-8E3F7F130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4BE9121-9677-2FCC-8A50-8221BEBEF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9B6E87-F02D-1969-B459-6DE6F1D6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09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D8EC8A-0115-AAE8-0CD0-BEA9A78BD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FF781ED-0AE9-BB56-DB89-B30E32141A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8FA371-D3BD-2CC4-A187-1183B7602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3C5701E-5228-05E9-AE47-03C870769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3A69EC-01EA-B8DB-26FA-80DD4FF5C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27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977E40-800E-6232-20EC-8AA6E9EB0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64BDAD5-C52A-5290-E8FC-78D946E39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948F0CC-FCED-6A56-9B4E-309C07DF08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A426BB8-AB1E-DEC4-3DAB-CB95184E86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2798542-12E2-AC40-75FA-12CEAB727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1BB571F-CE1B-459F-2E4C-7CEAC82BA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09501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094FD9-D85B-A496-5A22-FA478758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9E00A0F-0099-86A1-8F19-6BB5535903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6743C4-F325-1699-A7BF-86A130303D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BA38FC1-D255-0C49-C6B0-91461FECD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8DB671A-5B91-E07C-8514-92944D1B01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778511A-317F-C03D-0431-4A7DDAD56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CAB19FA-906F-6EC5-D352-A5AA26859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A074C29-6ECC-C0DE-CE8D-A33EC0354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4736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18C061-52E9-EF36-E30F-4C8CBD34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8E1714F-F87E-7D84-0DBD-E50E814E1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519CBA3-5E0E-A9D2-74F9-4D4FF4B3B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A58BCE4-7F1E-2019-D8C5-487A94DB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72002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33C3474-92DA-6E9C-79F9-26F3FCD05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C28F378-5BFD-900F-CE12-E399AC3A2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1DCC419-12B7-9540-DC04-5106B8B54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0791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3901D0-9CDC-83FF-8E63-725953850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6A5474-D91D-2A45-1D36-4B761BB038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2575917-71F6-F934-45A2-47B2B6B4B4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3914D67-FA23-B438-BEF2-452290791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E9B5382-2597-3238-4689-66A6C271D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C05D9FD-31AA-CE7E-531B-BAD01A9B1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51137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12641D-55FD-3448-EFD6-5E27875E5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4B6EC4F-94F9-AD19-42A8-2D4AD8A99A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AD642FA-ED77-59EC-47B4-BFD352BCF2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D456799-B9B0-E143-A980-C59216609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AA50571-E23F-B8D4-877B-DC7147F9D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379E3D4-F513-72F1-6E95-47402B2FB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3101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2E0069-5582-99B5-C84E-59E009F19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12FC1B1-9CE4-A215-E1BC-D5BFDB077E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A2F3BE2-BFE7-9851-A47C-353C42E12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555263-8B5B-D301-F246-7FF613F6E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655943-74E1-4B59-731B-A0DC1F844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4538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C65E2FA-6CD9-8C37-30F3-FEBD89C394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7C412FD-A98B-33C2-B294-09C1F42EE3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26DE92-2AAB-F620-1699-D568896ED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F9928EC-120D-958F-72B1-DD5899DA1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779DB7-016A-1A70-40AF-DB7EEFB1C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1067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C6673A-D9F3-904B-78D9-A584F2C4B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0763F3D-F584-D3EB-E8DD-F2338D746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D22AB3-66C5-F73D-7FC9-661A861A7D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63539B-5D62-4427-E472-F1AC5A1301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8ECFC03-268E-C9BD-F7F2-E4B28E826E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3652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项目背景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4FE3A2C-DEE2-451E-2E2C-04B69DB3F9E0}"/>
              </a:ext>
            </a:extLst>
          </p:cNvPr>
          <p:cNvSpPr txBox="1"/>
          <p:nvPr/>
        </p:nvSpPr>
        <p:spPr>
          <a:xfrm>
            <a:off x="144178" y="660401"/>
            <a:ext cx="402065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技术栈</a:t>
            </a:r>
            <a:endParaRPr lang="en-US" altLang="zh-CN" b="1" dirty="0"/>
          </a:p>
          <a:p>
            <a:r>
              <a:rPr lang="zh-CN" altLang="en-US" dirty="0"/>
              <a:t>前端：</a:t>
            </a:r>
            <a:r>
              <a:rPr lang="en-US" altLang="zh-CN" dirty="0"/>
              <a:t>Vue 2+Less+axios</a:t>
            </a:r>
          </a:p>
          <a:p>
            <a:r>
              <a:rPr lang="zh-CN" altLang="en-US" dirty="0"/>
              <a:t>后端：</a:t>
            </a:r>
            <a:r>
              <a:rPr lang="en-US" altLang="zh-CN" dirty="0"/>
              <a:t>Python </a:t>
            </a:r>
            <a:r>
              <a:rPr lang="en-US" altLang="zh-CN" dirty="0" err="1"/>
              <a:t>FastAPI+Uvicorn</a:t>
            </a:r>
            <a:endParaRPr lang="en-US" altLang="zh-CN" dirty="0"/>
          </a:p>
          <a:p>
            <a:r>
              <a:rPr lang="en-US" altLang="zh-CN" dirty="0"/>
              <a:t>Agent</a:t>
            </a:r>
            <a:r>
              <a:rPr lang="zh-CN" altLang="en-US" dirty="0"/>
              <a:t>：</a:t>
            </a:r>
            <a:r>
              <a:rPr lang="en-US" altLang="zh-CN" dirty="0"/>
              <a:t>Python </a:t>
            </a:r>
            <a:r>
              <a:rPr lang="en-US" altLang="zh-CN" dirty="0" err="1"/>
              <a:t>langchain</a:t>
            </a:r>
            <a:endParaRPr lang="en-US" altLang="zh-CN" dirty="0"/>
          </a:p>
          <a:p>
            <a:r>
              <a:rPr lang="zh-CN" altLang="en-US" dirty="0"/>
              <a:t>模型接入： </a:t>
            </a:r>
            <a:r>
              <a:rPr lang="en-US" altLang="zh-CN" dirty="0" err="1"/>
              <a:t>Ollama</a:t>
            </a:r>
            <a:r>
              <a:rPr lang="en-US" altLang="zh-CN" dirty="0"/>
              <a:t>/</a:t>
            </a:r>
            <a:r>
              <a:rPr lang="en-US" altLang="zh-CN" dirty="0" err="1"/>
              <a:t>Openai</a:t>
            </a:r>
            <a:r>
              <a:rPr lang="en-US" altLang="zh-CN" dirty="0"/>
              <a:t> + </a:t>
            </a:r>
            <a:r>
              <a:rPr lang="en-US" altLang="zh-CN" dirty="0" err="1"/>
              <a:t>LoRA</a:t>
            </a:r>
            <a:endParaRPr lang="en-US" altLang="zh-CN" dirty="0"/>
          </a:p>
          <a:p>
            <a:r>
              <a:rPr lang="en-US" altLang="zh-CN" dirty="0"/>
              <a:t>MCP</a:t>
            </a:r>
            <a:r>
              <a:rPr lang="zh-CN" altLang="en-US" dirty="0"/>
              <a:t>：</a:t>
            </a:r>
            <a:r>
              <a:rPr lang="en-US" altLang="zh-CN" dirty="0" err="1"/>
              <a:t>Typescript+NodeJS</a:t>
            </a:r>
            <a:r>
              <a:rPr lang="en-US" altLang="zh-CN" dirty="0"/>
              <a:t> + MCP SDK</a:t>
            </a:r>
          </a:p>
          <a:p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4A34E09-8BF0-64CF-6A7F-16F00ECE5B28}"/>
              </a:ext>
            </a:extLst>
          </p:cNvPr>
          <p:cNvSpPr txBox="1"/>
          <p:nvPr/>
        </p:nvSpPr>
        <p:spPr>
          <a:xfrm>
            <a:off x="184435" y="3904889"/>
            <a:ext cx="898256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项目简介</a:t>
            </a:r>
            <a:endParaRPr lang="en-US" altLang="zh-CN" b="1" dirty="0"/>
          </a:p>
          <a:p>
            <a:endParaRPr lang="en-US" altLang="zh-CN" b="1" dirty="0"/>
          </a:p>
          <a:p>
            <a:r>
              <a:rPr lang="zh-CN" altLang="en-US" dirty="0"/>
              <a:t>本项目是一个面向 </a:t>
            </a:r>
            <a:r>
              <a:rPr lang="en-US" altLang="zh-CN" dirty="0"/>
              <a:t>Steam </a:t>
            </a:r>
            <a:r>
              <a:rPr lang="zh-CN" altLang="en-US" dirty="0"/>
              <a:t>用户的本地 </a:t>
            </a:r>
            <a:r>
              <a:rPr lang="en-US" altLang="zh-CN" dirty="0"/>
              <a:t>AI </a:t>
            </a:r>
            <a:r>
              <a:rPr lang="zh-CN" altLang="en-US" dirty="0"/>
              <a:t>游戏助手系统，前端基于 </a:t>
            </a:r>
            <a:r>
              <a:rPr lang="en-US" altLang="zh-CN" dirty="0"/>
              <a:t>Vue 2 </a:t>
            </a:r>
            <a:r>
              <a:rPr lang="zh-CN" altLang="en-US" dirty="0"/>
              <a:t>构建交互界面，支持多用户档案切换、独立 </a:t>
            </a:r>
            <a:r>
              <a:rPr lang="en-US" altLang="zh-CN" dirty="0"/>
              <a:t>AI </a:t>
            </a:r>
            <a:r>
              <a:rPr lang="zh-CN" altLang="en-US" dirty="0"/>
              <a:t>配置、</a:t>
            </a:r>
            <a:r>
              <a:rPr lang="en-US" altLang="zh-CN" dirty="0"/>
              <a:t>Steam </a:t>
            </a:r>
            <a:r>
              <a:rPr lang="zh-CN" altLang="en-US" dirty="0"/>
              <a:t>数据概览和知识库管理；后端基于 </a:t>
            </a:r>
            <a:r>
              <a:rPr lang="en-US" altLang="zh-CN" dirty="0" err="1"/>
              <a:t>FastAPI</a:t>
            </a:r>
            <a:r>
              <a:rPr lang="en-US" altLang="zh-CN" dirty="0"/>
              <a:t> </a:t>
            </a:r>
            <a:r>
              <a:rPr lang="zh-CN" altLang="en-US" dirty="0"/>
              <a:t>提供用户资料、聊天、</a:t>
            </a:r>
            <a:r>
              <a:rPr lang="en-US" altLang="zh-CN" dirty="0"/>
              <a:t>Steam </a:t>
            </a:r>
            <a:r>
              <a:rPr lang="zh-CN" altLang="en-US" dirty="0"/>
              <a:t>数据和知识库接口，并通过 </a:t>
            </a:r>
            <a:r>
              <a:rPr lang="en-US" altLang="zh-CN" dirty="0" err="1"/>
              <a:t>LangChain</a:t>
            </a:r>
            <a:r>
              <a:rPr lang="zh-CN" altLang="en-US" dirty="0"/>
              <a:t>、</a:t>
            </a:r>
            <a:r>
              <a:rPr lang="en-US" altLang="zh-CN" dirty="0"/>
              <a:t>Chroma </a:t>
            </a:r>
            <a:r>
              <a:rPr lang="zh-CN" altLang="en-US" dirty="0"/>
              <a:t>与 </a:t>
            </a:r>
            <a:r>
              <a:rPr lang="en-US" altLang="zh-CN" dirty="0" err="1"/>
              <a:t>Ollama</a:t>
            </a:r>
            <a:r>
              <a:rPr lang="en-US" altLang="zh-CN" dirty="0"/>
              <a:t>/OpenAI-compatible </a:t>
            </a:r>
            <a:r>
              <a:rPr lang="zh-CN" altLang="en-US" dirty="0"/>
              <a:t>模型实现 </a:t>
            </a:r>
            <a:r>
              <a:rPr lang="en-US" altLang="zh-CN" dirty="0"/>
              <a:t>RAG </a:t>
            </a:r>
            <a:r>
              <a:rPr lang="zh-CN" altLang="en-US" dirty="0"/>
              <a:t>检索增强对话；同时项目内置 </a:t>
            </a:r>
            <a:r>
              <a:rPr lang="en-US" altLang="zh-CN" dirty="0"/>
              <a:t>TypeScript MCP Server</a:t>
            </a:r>
            <a:r>
              <a:rPr lang="zh-CN" altLang="en-US" dirty="0"/>
              <a:t>，将 </a:t>
            </a:r>
            <a:r>
              <a:rPr lang="en-US" altLang="zh-CN" dirty="0"/>
              <a:t>Steam Web API</a:t>
            </a:r>
            <a:r>
              <a:rPr lang="zh-CN" altLang="en-US" dirty="0"/>
              <a:t>、本地 </a:t>
            </a:r>
            <a:r>
              <a:rPr lang="en-US" altLang="zh-CN" dirty="0"/>
              <a:t>Steam </a:t>
            </a:r>
            <a:r>
              <a:rPr lang="zh-CN" altLang="en-US" dirty="0"/>
              <a:t>文件、商店、库存、好友和游戏启动能力封装为 </a:t>
            </a:r>
            <a:r>
              <a:rPr lang="en-US" altLang="zh-CN" dirty="0"/>
              <a:t>MCP </a:t>
            </a:r>
            <a:r>
              <a:rPr lang="zh-CN" altLang="en-US" dirty="0"/>
              <a:t>工具，使 </a:t>
            </a:r>
            <a:r>
              <a:rPr lang="en-US" altLang="zh-CN" dirty="0"/>
              <a:t>Agent </a:t>
            </a:r>
            <a:r>
              <a:rPr lang="zh-CN" altLang="en-US" dirty="0"/>
              <a:t>能在对话中按需调用真实 </a:t>
            </a:r>
            <a:r>
              <a:rPr lang="en-US" altLang="zh-CN" dirty="0"/>
              <a:t>Steam </a:t>
            </a:r>
            <a:r>
              <a:rPr lang="zh-CN" altLang="en-US" dirty="0"/>
              <a:t>数据与本地功能。</a:t>
            </a:r>
            <a:endParaRPr lang="en-US" altLang="zh-CN" b="1" dirty="0"/>
          </a:p>
          <a:p>
            <a:endParaRPr lang="zh-CN" altLang="en-US" b="1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FBFDA41F-DFF8-8ED6-CE98-55144ADD23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6174" y="0"/>
            <a:ext cx="8011064" cy="41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813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77FDB37-59A1-FA10-2E15-AC5E826FECB6}"/>
              </a:ext>
            </a:extLst>
          </p:cNvPr>
          <p:cNvSpPr/>
          <p:nvPr/>
        </p:nvSpPr>
        <p:spPr>
          <a:xfrm>
            <a:off x="1650521" y="1155940"/>
            <a:ext cx="1892060" cy="776377"/>
          </a:xfrm>
          <a:prstGeom prst="rect">
            <a:avLst/>
          </a:prstGeom>
          <a:solidFill>
            <a:srgbClr val="BADAB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</a:rPr>
              <a:t>后端</a:t>
            </a:r>
            <a:r>
              <a:rPr lang="en-US" altLang="zh-CN" b="1" dirty="0">
                <a:solidFill>
                  <a:schemeClr val="tx1"/>
                </a:solidFill>
              </a:rPr>
              <a:t>API</a:t>
            </a:r>
          </a:p>
          <a:p>
            <a:pPr algn="ctr"/>
            <a:r>
              <a:rPr lang="en-US" altLang="zh-CN" sz="900" b="1" dirty="0">
                <a:solidFill>
                  <a:schemeClr val="tx1"/>
                </a:solidFill>
              </a:rPr>
              <a:t>/Agent/server.py</a:t>
            </a:r>
            <a:endParaRPr lang="zh-CN" altLang="en-US" sz="900" b="1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57AF762-F889-E32E-3185-BAC6361B4371}"/>
              </a:ext>
            </a:extLst>
          </p:cNvPr>
          <p:cNvSpPr/>
          <p:nvPr/>
        </p:nvSpPr>
        <p:spPr>
          <a:xfrm>
            <a:off x="1650521" y="3844506"/>
            <a:ext cx="1892060" cy="776377"/>
          </a:xfrm>
          <a:prstGeom prst="rect">
            <a:avLst/>
          </a:prstGeom>
          <a:solidFill>
            <a:srgbClr val="BADAB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</a:rPr>
              <a:t>前端请求封装</a:t>
            </a:r>
            <a:endParaRPr lang="en-US" altLang="zh-CN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b="1" dirty="0">
                <a:solidFill>
                  <a:schemeClr val="tx1"/>
                </a:solidFill>
              </a:rPr>
              <a:t>/frontend/</a:t>
            </a:r>
            <a:r>
              <a:rPr lang="en-US" altLang="zh-CN" sz="900" b="1" dirty="0" err="1">
                <a:solidFill>
                  <a:schemeClr val="tx1"/>
                </a:solidFill>
              </a:rPr>
              <a:t>src</a:t>
            </a:r>
            <a:r>
              <a:rPr lang="en-US" altLang="zh-CN" sz="900" b="1" dirty="0">
                <a:solidFill>
                  <a:schemeClr val="tx1"/>
                </a:solidFill>
              </a:rPr>
              <a:t>/</a:t>
            </a:r>
            <a:r>
              <a:rPr lang="en-US" altLang="zh-CN" sz="900" b="1" dirty="0" err="1">
                <a:solidFill>
                  <a:schemeClr val="tx1"/>
                </a:solidFill>
              </a:rPr>
              <a:t>api</a:t>
            </a:r>
            <a:r>
              <a:rPr lang="en-US" altLang="zh-CN" sz="900" b="1" dirty="0">
                <a:solidFill>
                  <a:schemeClr val="tx1"/>
                </a:solidFill>
              </a:rPr>
              <a:t>/api.js</a:t>
            </a:r>
            <a:endParaRPr lang="zh-CN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7" name="连接符: 肘形 6">
            <a:extLst>
              <a:ext uri="{FF2B5EF4-FFF2-40B4-BE49-F238E27FC236}">
                <a16:creationId xmlns:a16="http://schemas.microsoft.com/office/drawing/2014/main" id="{4087FE4E-D04A-8984-F1A2-F48F9A01952D}"/>
              </a:ext>
            </a:extLst>
          </p:cNvPr>
          <p:cNvCxnSpPr>
            <a:cxnSpLocks/>
            <a:stCxn id="4" idx="1"/>
            <a:endCxn id="5" idx="1"/>
          </p:cNvCxnSpPr>
          <p:nvPr/>
        </p:nvCxnSpPr>
        <p:spPr>
          <a:xfrm rot="10800000" flipV="1">
            <a:off x="1650521" y="1544129"/>
            <a:ext cx="12700" cy="2688566"/>
          </a:xfrm>
          <a:prstGeom prst="bentConnector3">
            <a:avLst>
              <a:gd name="adj1" fmla="val 646415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37BAD865-9555-1799-967D-3149A4B6918E}"/>
              </a:ext>
            </a:extLst>
          </p:cNvPr>
          <p:cNvSpPr txBox="1"/>
          <p:nvPr/>
        </p:nvSpPr>
        <p:spPr>
          <a:xfrm>
            <a:off x="954657" y="2703745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GET/POST</a:t>
            </a:r>
            <a:endParaRPr lang="zh-CN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9C17AD8-51F6-1E7D-4A74-189D41D05AE4}"/>
              </a:ext>
            </a:extLst>
          </p:cNvPr>
          <p:cNvSpPr/>
          <p:nvPr/>
        </p:nvSpPr>
        <p:spPr>
          <a:xfrm>
            <a:off x="4770405" y="1293963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</a:rPr>
              <a:t>用户资料管理</a:t>
            </a:r>
            <a:endParaRPr lang="en-US" altLang="zh-CN" sz="16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/Agent/profile_store.py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5C98083-D822-352C-0754-9C483654316A}"/>
              </a:ext>
            </a:extLst>
          </p:cNvPr>
          <p:cNvSpPr/>
          <p:nvPr/>
        </p:nvSpPr>
        <p:spPr>
          <a:xfrm>
            <a:off x="4770404" y="258793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Steam</a:t>
            </a:r>
            <a:r>
              <a:rPr lang="zh-CN" altLang="en-US" sz="1400" dirty="0">
                <a:solidFill>
                  <a:schemeClr val="tx1"/>
                </a:solidFill>
              </a:rPr>
              <a:t>数据概览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/Agent/steam_service.py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94B3B11-34E4-36A9-3542-D6876D7DF6BA}"/>
              </a:ext>
            </a:extLst>
          </p:cNvPr>
          <p:cNvSpPr/>
          <p:nvPr/>
        </p:nvSpPr>
        <p:spPr>
          <a:xfrm>
            <a:off x="4770406" y="2262993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</a:rPr>
              <a:t>Agent</a:t>
            </a:r>
            <a:r>
              <a:rPr lang="zh-CN" altLang="en-US" sz="1600" b="1" dirty="0">
                <a:solidFill>
                  <a:schemeClr val="tx1"/>
                </a:solidFill>
              </a:rPr>
              <a:t>编排</a:t>
            </a:r>
            <a:endParaRPr lang="en-US" altLang="zh-CN" sz="16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/Agent/Agent.py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15" name="连接符: 肘形 14">
            <a:extLst>
              <a:ext uri="{FF2B5EF4-FFF2-40B4-BE49-F238E27FC236}">
                <a16:creationId xmlns:a16="http://schemas.microsoft.com/office/drawing/2014/main" id="{10FB27F3-4894-454C-D9C8-B593494F6C5C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3542581" y="1544129"/>
            <a:ext cx="1227824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肘形 17">
            <a:extLst>
              <a:ext uri="{FF2B5EF4-FFF2-40B4-BE49-F238E27FC236}">
                <a16:creationId xmlns:a16="http://schemas.microsoft.com/office/drawing/2014/main" id="{F7B379CA-41C8-227D-8567-0F9B60816380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 flipV="1">
            <a:off x="3542581" y="508959"/>
            <a:ext cx="1227823" cy="103517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25753A9D-CE17-2A53-3E9F-3FAC867964CF}"/>
              </a:ext>
            </a:extLst>
          </p:cNvPr>
          <p:cNvCxnSpPr>
            <a:cxnSpLocks/>
            <a:stCxn id="4" idx="3"/>
            <a:endCxn id="13" idx="1"/>
          </p:cNvCxnSpPr>
          <p:nvPr/>
        </p:nvCxnSpPr>
        <p:spPr>
          <a:xfrm>
            <a:off x="3542581" y="1544129"/>
            <a:ext cx="1227825" cy="96903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DC10F81F-BA04-FBF9-7051-26884FC8AFD1}"/>
              </a:ext>
            </a:extLst>
          </p:cNvPr>
          <p:cNvSpPr/>
          <p:nvPr/>
        </p:nvSpPr>
        <p:spPr>
          <a:xfrm>
            <a:off x="8439657" y="1522164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提示词构建</a:t>
            </a:r>
            <a:endParaRPr lang="en-US" altLang="zh-CN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context_builder.py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1EB998E4-CC75-874C-C383-DAE906EA3001}"/>
              </a:ext>
            </a:extLst>
          </p:cNvPr>
          <p:cNvSpPr/>
          <p:nvPr/>
        </p:nvSpPr>
        <p:spPr>
          <a:xfrm>
            <a:off x="8439656" y="2071379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持久化存储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7A8F2F58-8E31-B074-32D5-64DC24DA3A6C}"/>
              </a:ext>
            </a:extLst>
          </p:cNvPr>
          <p:cNvSpPr/>
          <p:nvPr/>
        </p:nvSpPr>
        <p:spPr>
          <a:xfrm>
            <a:off x="8439655" y="2629216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LLM</a:t>
            </a:r>
            <a:r>
              <a:rPr lang="zh-CN" altLang="en-US" sz="1400" dirty="0">
                <a:solidFill>
                  <a:schemeClr val="tx1"/>
                </a:solidFill>
              </a:rPr>
              <a:t>调用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3210A9AC-071B-3A1E-CEEA-1FCB9E7DC3A8}"/>
              </a:ext>
            </a:extLst>
          </p:cNvPr>
          <p:cNvSpPr/>
          <p:nvPr/>
        </p:nvSpPr>
        <p:spPr>
          <a:xfrm>
            <a:off x="8439654" y="3175551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</a:rPr>
              <a:t>MCP</a:t>
            </a:r>
            <a:r>
              <a:rPr lang="zh-CN" altLang="en-US" sz="1400" b="1" dirty="0">
                <a:solidFill>
                  <a:schemeClr val="tx1"/>
                </a:solidFill>
              </a:rPr>
              <a:t>调用</a:t>
            </a:r>
            <a:endParaRPr lang="en-US" altLang="zh-CN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mcp_client.py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5426E696-193B-7FB0-8DB1-52BF12EFC7D2}"/>
              </a:ext>
            </a:extLst>
          </p:cNvPr>
          <p:cNvCxnSpPr>
            <a:cxnSpLocks/>
            <a:stCxn id="13" idx="3"/>
            <a:endCxn id="33" idx="1"/>
          </p:cNvCxnSpPr>
          <p:nvPr/>
        </p:nvCxnSpPr>
        <p:spPr>
          <a:xfrm flipV="1">
            <a:off x="6199515" y="1703321"/>
            <a:ext cx="2240142" cy="80983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8E8B1F01-E315-B751-5EBE-59F7FEC6A18E}"/>
              </a:ext>
            </a:extLst>
          </p:cNvPr>
          <p:cNvCxnSpPr>
            <a:cxnSpLocks/>
            <a:stCxn id="13" idx="3"/>
            <a:endCxn id="34" idx="1"/>
          </p:cNvCxnSpPr>
          <p:nvPr/>
        </p:nvCxnSpPr>
        <p:spPr>
          <a:xfrm flipV="1">
            <a:off x="6199515" y="2252536"/>
            <a:ext cx="2240141" cy="26062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92DD3904-2E44-E414-8BEA-16AD9F3F3C30}"/>
              </a:ext>
            </a:extLst>
          </p:cNvPr>
          <p:cNvCxnSpPr>
            <a:cxnSpLocks/>
            <a:stCxn id="13" idx="3"/>
            <a:endCxn id="35" idx="1"/>
          </p:cNvCxnSpPr>
          <p:nvPr/>
        </p:nvCxnSpPr>
        <p:spPr>
          <a:xfrm>
            <a:off x="6199515" y="2513159"/>
            <a:ext cx="2240140" cy="29721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32711BF3-0222-58DC-E51E-5773C097C84E}"/>
              </a:ext>
            </a:extLst>
          </p:cNvPr>
          <p:cNvCxnSpPr>
            <a:cxnSpLocks/>
            <a:stCxn id="13" idx="3"/>
            <a:endCxn id="36" idx="1"/>
          </p:cNvCxnSpPr>
          <p:nvPr/>
        </p:nvCxnSpPr>
        <p:spPr>
          <a:xfrm>
            <a:off x="6199515" y="2513159"/>
            <a:ext cx="2240139" cy="84354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D923FBF2-984A-E862-6668-38EEE4AA3E6A}"/>
              </a:ext>
            </a:extLst>
          </p:cNvPr>
          <p:cNvSpPr txBox="1"/>
          <p:nvPr/>
        </p:nvSpPr>
        <p:spPr>
          <a:xfrm>
            <a:off x="9552227" y="2152015"/>
            <a:ext cx="272382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把对话历史记录，知识库，用户资料等存储在本地</a:t>
            </a: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F9675162-C0BA-FD95-30B0-E4CD41542CAE}"/>
              </a:ext>
            </a:extLst>
          </p:cNvPr>
          <p:cNvSpPr txBox="1"/>
          <p:nvPr/>
        </p:nvSpPr>
        <p:spPr>
          <a:xfrm>
            <a:off x="9592573" y="2717159"/>
            <a:ext cx="200728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支持</a:t>
            </a:r>
            <a:r>
              <a:rPr lang="en-US" altLang="zh-CN" sz="900" dirty="0" err="1"/>
              <a:t>openai</a:t>
            </a:r>
            <a:r>
              <a:rPr lang="zh-CN" altLang="en-US" sz="900" dirty="0"/>
              <a:t>格式和</a:t>
            </a:r>
            <a:r>
              <a:rPr lang="en-US" altLang="zh-CN" sz="900" dirty="0" err="1"/>
              <a:t>ollama</a:t>
            </a:r>
            <a:r>
              <a:rPr lang="zh-CN" altLang="en-US" sz="900" dirty="0"/>
              <a:t>格式的接口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FA5A7259-0CEA-8033-8801-360B774D05E0}"/>
              </a:ext>
            </a:extLst>
          </p:cNvPr>
          <p:cNvSpPr/>
          <p:nvPr/>
        </p:nvSpPr>
        <p:spPr>
          <a:xfrm>
            <a:off x="4770404" y="3982528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</a:rPr>
              <a:t>前端主界面</a:t>
            </a:r>
            <a:endParaRPr lang="en-US" altLang="zh-CN" sz="16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/frontend/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App.vue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99" name="连接符: 肘形 98">
            <a:extLst>
              <a:ext uri="{FF2B5EF4-FFF2-40B4-BE49-F238E27FC236}">
                <a16:creationId xmlns:a16="http://schemas.microsoft.com/office/drawing/2014/main" id="{CDF39066-B5A5-5761-C929-09B2B64324D0}"/>
              </a:ext>
            </a:extLst>
          </p:cNvPr>
          <p:cNvCxnSpPr>
            <a:cxnSpLocks/>
            <a:stCxn id="11" idx="3"/>
            <a:endCxn id="34" idx="1"/>
          </p:cNvCxnSpPr>
          <p:nvPr/>
        </p:nvCxnSpPr>
        <p:spPr>
          <a:xfrm>
            <a:off x="6199514" y="1544129"/>
            <a:ext cx="2240142" cy="708407"/>
          </a:xfrm>
          <a:prstGeom prst="bentConnector3">
            <a:avLst>
              <a:gd name="adj1" fmla="val 312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矩形 101">
            <a:extLst>
              <a:ext uri="{FF2B5EF4-FFF2-40B4-BE49-F238E27FC236}">
                <a16:creationId xmlns:a16="http://schemas.microsoft.com/office/drawing/2014/main" id="{B25BB9AC-D0FF-4B8F-E531-DF192DF23F75}"/>
              </a:ext>
            </a:extLst>
          </p:cNvPr>
          <p:cNvSpPr/>
          <p:nvPr/>
        </p:nvSpPr>
        <p:spPr>
          <a:xfrm>
            <a:off x="8439653" y="978636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增删改用户</a:t>
            </a:r>
          </a:p>
        </p:txBody>
      </p:sp>
      <p:cxnSp>
        <p:nvCxnSpPr>
          <p:cNvPr id="105" name="连接符: 肘形 104">
            <a:extLst>
              <a:ext uri="{FF2B5EF4-FFF2-40B4-BE49-F238E27FC236}">
                <a16:creationId xmlns:a16="http://schemas.microsoft.com/office/drawing/2014/main" id="{B7C9E442-0A0C-166E-F35F-4127A06F1D03}"/>
              </a:ext>
            </a:extLst>
          </p:cNvPr>
          <p:cNvCxnSpPr>
            <a:cxnSpLocks/>
            <a:stCxn id="11" idx="3"/>
            <a:endCxn id="102" idx="1"/>
          </p:cNvCxnSpPr>
          <p:nvPr/>
        </p:nvCxnSpPr>
        <p:spPr>
          <a:xfrm flipV="1">
            <a:off x="6199514" y="1159793"/>
            <a:ext cx="2240139" cy="384336"/>
          </a:xfrm>
          <a:prstGeom prst="bentConnector3">
            <a:avLst>
              <a:gd name="adj1" fmla="val 312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矩形 107">
            <a:extLst>
              <a:ext uri="{FF2B5EF4-FFF2-40B4-BE49-F238E27FC236}">
                <a16:creationId xmlns:a16="http://schemas.microsoft.com/office/drawing/2014/main" id="{61959A08-7DC5-78A7-2590-8BAE873C08CA}"/>
              </a:ext>
            </a:extLst>
          </p:cNvPr>
          <p:cNvSpPr/>
          <p:nvPr/>
        </p:nvSpPr>
        <p:spPr>
          <a:xfrm>
            <a:off x="6871049" y="3482193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界面组件</a:t>
            </a:r>
            <a:endParaRPr lang="en-US" altLang="zh-CN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/components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C0F2FCA7-42DD-9863-3564-175DD2AE688C}"/>
              </a:ext>
            </a:extLst>
          </p:cNvPr>
          <p:cNvSpPr/>
          <p:nvPr/>
        </p:nvSpPr>
        <p:spPr>
          <a:xfrm>
            <a:off x="6871048" y="4046300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界面服务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/services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E65098CD-F4AB-7E57-DD6F-E50076FFC323}"/>
              </a:ext>
            </a:extLst>
          </p:cNvPr>
          <p:cNvSpPr/>
          <p:nvPr/>
        </p:nvSpPr>
        <p:spPr>
          <a:xfrm>
            <a:off x="6871048" y="4610407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界面状态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/store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112" name="连接符: 肘形 111">
            <a:extLst>
              <a:ext uri="{FF2B5EF4-FFF2-40B4-BE49-F238E27FC236}">
                <a16:creationId xmlns:a16="http://schemas.microsoft.com/office/drawing/2014/main" id="{64C5F65B-853F-F65D-7910-27ACE7EEFC62}"/>
              </a:ext>
            </a:extLst>
          </p:cNvPr>
          <p:cNvCxnSpPr>
            <a:cxnSpLocks/>
            <a:stCxn id="94" idx="3"/>
            <a:endCxn id="109" idx="1"/>
          </p:cNvCxnSpPr>
          <p:nvPr/>
        </p:nvCxnSpPr>
        <p:spPr>
          <a:xfrm flipV="1">
            <a:off x="6199513" y="4227457"/>
            <a:ext cx="671535" cy="523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179259B1-A39B-C038-DAC6-561215B59B87}"/>
              </a:ext>
            </a:extLst>
          </p:cNvPr>
          <p:cNvCxnSpPr>
            <a:cxnSpLocks/>
            <a:stCxn id="94" idx="3"/>
            <a:endCxn id="108" idx="1"/>
          </p:cNvCxnSpPr>
          <p:nvPr/>
        </p:nvCxnSpPr>
        <p:spPr>
          <a:xfrm flipV="1">
            <a:off x="6199513" y="3663350"/>
            <a:ext cx="671536" cy="56934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连接符: 肘形 119">
            <a:extLst>
              <a:ext uri="{FF2B5EF4-FFF2-40B4-BE49-F238E27FC236}">
                <a16:creationId xmlns:a16="http://schemas.microsoft.com/office/drawing/2014/main" id="{AEEB39C7-FBBB-5F41-5BB6-B85F99E1C00D}"/>
              </a:ext>
            </a:extLst>
          </p:cNvPr>
          <p:cNvCxnSpPr>
            <a:cxnSpLocks/>
            <a:stCxn id="94" idx="3"/>
            <a:endCxn id="110" idx="1"/>
          </p:cNvCxnSpPr>
          <p:nvPr/>
        </p:nvCxnSpPr>
        <p:spPr>
          <a:xfrm>
            <a:off x="6199513" y="4232694"/>
            <a:ext cx="671535" cy="55887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椭圆 121">
            <a:extLst>
              <a:ext uri="{FF2B5EF4-FFF2-40B4-BE49-F238E27FC236}">
                <a16:creationId xmlns:a16="http://schemas.microsoft.com/office/drawing/2014/main" id="{66F1F738-EC1E-7FAB-A696-6D75527D287A}"/>
              </a:ext>
            </a:extLst>
          </p:cNvPr>
          <p:cNvSpPr/>
          <p:nvPr/>
        </p:nvSpPr>
        <p:spPr>
          <a:xfrm>
            <a:off x="6599198" y="5470177"/>
            <a:ext cx="1656272" cy="782128"/>
          </a:xfrm>
          <a:prstGeom prst="ellipse">
            <a:avLst/>
          </a:prstGeom>
          <a:solidFill>
            <a:srgbClr val="4A5F7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</a:rPr>
              <a:t>MCP</a:t>
            </a:r>
            <a:r>
              <a:rPr lang="zh-CN" altLang="en-US" b="1" dirty="0">
                <a:solidFill>
                  <a:schemeClr val="tx1"/>
                </a:solidFill>
              </a:rPr>
              <a:t>工具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0112F42-5781-D326-CF3A-7DDD3150A3CA}"/>
              </a:ext>
            </a:extLst>
          </p:cNvPr>
          <p:cNvSpPr/>
          <p:nvPr/>
        </p:nvSpPr>
        <p:spPr>
          <a:xfrm>
            <a:off x="8563300" y="5064736"/>
            <a:ext cx="1112573" cy="362313"/>
          </a:xfrm>
          <a:prstGeom prst="rect">
            <a:avLst/>
          </a:prstGeom>
          <a:solidFill>
            <a:srgbClr val="94C6C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初始化入口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index.ts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FB7D9F5-E14C-00C0-659D-34597A069DB0}"/>
              </a:ext>
            </a:extLst>
          </p:cNvPr>
          <p:cNvSpPr/>
          <p:nvPr/>
        </p:nvSpPr>
        <p:spPr>
          <a:xfrm>
            <a:off x="8563299" y="5685003"/>
            <a:ext cx="1112573" cy="362313"/>
          </a:xfrm>
          <a:prstGeom prst="rect">
            <a:avLst/>
          </a:prstGeom>
          <a:solidFill>
            <a:srgbClr val="94C6C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API</a:t>
            </a:r>
            <a:r>
              <a:rPr lang="zh-CN" altLang="en-US" sz="1400" dirty="0">
                <a:solidFill>
                  <a:schemeClr val="tx1"/>
                </a:solidFill>
              </a:rPr>
              <a:t>封装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/steam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F31EBA5-C251-DBAF-29C4-EF891FD7BE07}"/>
              </a:ext>
            </a:extLst>
          </p:cNvPr>
          <p:cNvSpPr/>
          <p:nvPr/>
        </p:nvSpPr>
        <p:spPr>
          <a:xfrm>
            <a:off x="8563299" y="6305269"/>
            <a:ext cx="1112573" cy="362313"/>
          </a:xfrm>
          <a:prstGeom prst="rect">
            <a:avLst/>
          </a:prstGeom>
          <a:solidFill>
            <a:srgbClr val="94C6C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工具定义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/tools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11DBC8A4-0293-A31B-FC77-114FDA7A3703}"/>
              </a:ext>
            </a:extLst>
          </p:cNvPr>
          <p:cNvCxnSpPr>
            <a:cxnSpLocks/>
            <a:stCxn id="122" idx="6"/>
            <a:endCxn id="2" idx="1"/>
          </p:cNvCxnSpPr>
          <p:nvPr/>
        </p:nvCxnSpPr>
        <p:spPr>
          <a:xfrm flipV="1">
            <a:off x="8255470" y="5245893"/>
            <a:ext cx="307830" cy="6153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50C0EA6A-BC6A-3837-22D4-ABB3E6B838AB}"/>
              </a:ext>
            </a:extLst>
          </p:cNvPr>
          <p:cNvCxnSpPr>
            <a:cxnSpLocks/>
            <a:stCxn id="122" idx="6"/>
            <a:endCxn id="3" idx="1"/>
          </p:cNvCxnSpPr>
          <p:nvPr/>
        </p:nvCxnSpPr>
        <p:spPr>
          <a:xfrm>
            <a:off x="8255470" y="5861241"/>
            <a:ext cx="307829" cy="4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0EBB5F59-695B-029A-A4ED-F14A82386DEE}"/>
              </a:ext>
            </a:extLst>
          </p:cNvPr>
          <p:cNvCxnSpPr>
            <a:cxnSpLocks/>
            <a:stCxn id="122" idx="6"/>
            <a:endCxn id="6" idx="1"/>
          </p:cNvCxnSpPr>
          <p:nvPr/>
        </p:nvCxnSpPr>
        <p:spPr>
          <a:xfrm>
            <a:off x="8255470" y="5861241"/>
            <a:ext cx="307829" cy="6251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肘形 25">
            <a:extLst>
              <a:ext uri="{FF2B5EF4-FFF2-40B4-BE49-F238E27FC236}">
                <a16:creationId xmlns:a16="http://schemas.microsoft.com/office/drawing/2014/main" id="{327DAE8F-5EA8-A7D3-79E5-1484CFB9A7BF}"/>
              </a:ext>
            </a:extLst>
          </p:cNvPr>
          <p:cNvCxnSpPr>
            <a:cxnSpLocks/>
            <a:stCxn id="36" idx="3"/>
            <a:endCxn id="2" idx="3"/>
          </p:cNvCxnSpPr>
          <p:nvPr/>
        </p:nvCxnSpPr>
        <p:spPr>
          <a:xfrm>
            <a:off x="9552227" y="3356708"/>
            <a:ext cx="123646" cy="1889185"/>
          </a:xfrm>
          <a:prstGeom prst="bentConnector3">
            <a:avLst>
              <a:gd name="adj1" fmla="val 28488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4525FE28-4486-AD8F-00B2-A1D61C325E83}"/>
              </a:ext>
            </a:extLst>
          </p:cNvPr>
          <p:cNvSpPr txBox="1"/>
          <p:nvPr/>
        </p:nvSpPr>
        <p:spPr>
          <a:xfrm>
            <a:off x="9909242" y="3948022"/>
            <a:ext cx="211598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err="1"/>
              <a:t>mcp_client</a:t>
            </a:r>
            <a:r>
              <a:rPr lang="zh-CN" altLang="en-US" sz="1100" dirty="0"/>
              <a:t>内通过文件路径找到</a:t>
            </a:r>
            <a:r>
              <a:rPr lang="en-US" altLang="zh-CN" sz="1100" dirty="0" err="1"/>
              <a:t>index.ts</a:t>
            </a:r>
            <a:r>
              <a:rPr lang="zh-CN" altLang="en-US" sz="1100" dirty="0"/>
              <a:t>，启动该子进程，并通过</a:t>
            </a:r>
            <a:r>
              <a:rPr lang="en-US" altLang="zh-CN" sz="1100" dirty="0" err="1"/>
              <a:t>stdio</a:t>
            </a:r>
            <a:r>
              <a:rPr lang="zh-CN" altLang="en-US" sz="1100" dirty="0"/>
              <a:t>建立</a:t>
            </a:r>
            <a:r>
              <a:rPr lang="en-US" altLang="zh-CN" sz="1100" dirty="0" err="1"/>
              <a:t>mcp</a:t>
            </a:r>
            <a:r>
              <a:rPr lang="zh-CN" altLang="en-US" sz="1100" dirty="0"/>
              <a:t>管道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总体概览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BA0BEA2-F7F7-ADB5-9319-F3B8AE29CBCB}"/>
              </a:ext>
            </a:extLst>
          </p:cNvPr>
          <p:cNvSpPr txBox="1"/>
          <p:nvPr/>
        </p:nvSpPr>
        <p:spPr>
          <a:xfrm>
            <a:off x="9720075" y="6371009"/>
            <a:ext cx="99899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900" dirty="0"/>
              <a:t>21</a:t>
            </a:r>
            <a:r>
              <a:rPr lang="zh-CN" altLang="en-US" sz="900" dirty="0"/>
              <a:t>个不同的工具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3C74EFE-2FA3-DACC-B005-82894D21EF09}"/>
              </a:ext>
            </a:extLst>
          </p:cNvPr>
          <p:cNvSpPr/>
          <p:nvPr/>
        </p:nvSpPr>
        <p:spPr>
          <a:xfrm>
            <a:off x="6599198" y="103117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个人私有资料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7426F6A-73C7-0A0A-13D1-488962AE427E}"/>
              </a:ext>
            </a:extLst>
          </p:cNvPr>
          <p:cNvSpPr/>
          <p:nvPr/>
        </p:nvSpPr>
        <p:spPr>
          <a:xfrm>
            <a:off x="6599197" y="661353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商店公开资料</a:t>
            </a: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167B0127-6146-5616-B981-2CDD198B74A1}"/>
              </a:ext>
            </a:extLst>
          </p:cNvPr>
          <p:cNvCxnSpPr>
            <a:cxnSpLocks/>
            <a:stCxn id="12" idx="3"/>
            <a:endCxn id="39" idx="1"/>
          </p:cNvCxnSpPr>
          <p:nvPr/>
        </p:nvCxnSpPr>
        <p:spPr>
          <a:xfrm flipV="1">
            <a:off x="6199513" y="284274"/>
            <a:ext cx="399685" cy="224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B3B60111-55F6-7A83-3E03-4DAF675E23E0}"/>
              </a:ext>
            </a:extLst>
          </p:cNvPr>
          <p:cNvCxnSpPr>
            <a:cxnSpLocks/>
            <a:stCxn id="12" idx="3"/>
            <a:endCxn id="40" idx="1"/>
          </p:cNvCxnSpPr>
          <p:nvPr/>
        </p:nvCxnSpPr>
        <p:spPr>
          <a:xfrm>
            <a:off x="6199513" y="508959"/>
            <a:ext cx="399684" cy="3335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F2AE1DCC-06F3-11E0-D7B0-28E9C98CC217}"/>
              </a:ext>
            </a:extLst>
          </p:cNvPr>
          <p:cNvCxnSpPr>
            <a:cxnSpLocks/>
            <a:stCxn id="5" idx="3"/>
            <a:endCxn id="94" idx="1"/>
          </p:cNvCxnSpPr>
          <p:nvPr/>
        </p:nvCxnSpPr>
        <p:spPr>
          <a:xfrm flipV="1">
            <a:off x="3542581" y="4232694"/>
            <a:ext cx="1227823" cy="1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8433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提示词构建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03D40E2-3AAF-C3C1-6A7B-565DBE372B12}"/>
              </a:ext>
            </a:extLst>
          </p:cNvPr>
          <p:cNvSpPr/>
          <p:nvPr/>
        </p:nvSpPr>
        <p:spPr>
          <a:xfrm>
            <a:off x="3793795" y="616846"/>
            <a:ext cx="1429109" cy="500332"/>
          </a:xfrm>
          <a:prstGeom prst="rect">
            <a:avLst/>
          </a:prstGeom>
          <a:solidFill>
            <a:srgbClr val="925EB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公共知识库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/Agent/Knowledge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D8C01EC-C711-4A59-1E9B-5EC1E83DF822}"/>
              </a:ext>
            </a:extLst>
          </p:cNvPr>
          <p:cNvSpPr/>
          <p:nvPr/>
        </p:nvSpPr>
        <p:spPr>
          <a:xfrm>
            <a:off x="5728988" y="616846"/>
            <a:ext cx="1429109" cy="500332"/>
          </a:xfrm>
          <a:prstGeom prst="rect">
            <a:avLst/>
          </a:prstGeom>
          <a:solidFill>
            <a:srgbClr val="925EB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专有知识库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800" dirty="0">
                <a:solidFill>
                  <a:schemeClr val="tx1"/>
                </a:solidFill>
              </a:rPr>
              <a:t>/Agent/runtime/Knowledge/{</a:t>
            </a:r>
            <a:r>
              <a:rPr lang="en-US" altLang="zh-CN" sz="800" dirty="0" err="1">
                <a:solidFill>
                  <a:schemeClr val="tx1"/>
                </a:solidFill>
              </a:rPr>
              <a:t>profileId</a:t>
            </a:r>
            <a:r>
              <a:rPr lang="en-US" altLang="zh-CN" sz="800" dirty="0">
                <a:solidFill>
                  <a:schemeClr val="tx1"/>
                </a:solidFill>
              </a:rPr>
              <a:t>}</a:t>
            </a:r>
            <a:endParaRPr lang="zh-CN" altLang="en-US" sz="800" dirty="0">
              <a:solidFill>
                <a:schemeClr val="tx1"/>
              </a:solidFill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751FBCCC-D826-91EB-A08E-11342338EC35}"/>
              </a:ext>
            </a:extLst>
          </p:cNvPr>
          <p:cNvSpPr/>
          <p:nvPr/>
        </p:nvSpPr>
        <p:spPr>
          <a:xfrm>
            <a:off x="8546251" y="616846"/>
            <a:ext cx="1035170" cy="500332"/>
          </a:xfrm>
          <a:prstGeom prst="ellipse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前端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B68A4FA-8BEE-C439-9BEE-D88F0AAA9C05}"/>
              </a:ext>
            </a:extLst>
          </p:cNvPr>
          <p:cNvSpPr/>
          <p:nvPr/>
        </p:nvSpPr>
        <p:spPr>
          <a:xfrm>
            <a:off x="4762829" y="1545624"/>
            <a:ext cx="1429109" cy="500332"/>
          </a:xfrm>
          <a:prstGeom prst="rect">
            <a:avLst/>
          </a:prstGeom>
          <a:solidFill>
            <a:srgbClr val="A6ADB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Chroma</a:t>
            </a:r>
            <a:r>
              <a:rPr lang="zh-CN" altLang="en-US" sz="1400" dirty="0">
                <a:solidFill>
                  <a:schemeClr val="tx1"/>
                </a:solidFill>
              </a:rPr>
              <a:t>向量库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80BF8C0A-D853-797A-5437-A04C3A97D73F}"/>
              </a:ext>
            </a:extLst>
          </p:cNvPr>
          <p:cNvCxnSpPr>
            <a:cxnSpLocks/>
            <a:stCxn id="8" idx="2"/>
            <a:endCxn id="21" idx="0"/>
          </p:cNvCxnSpPr>
          <p:nvPr/>
        </p:nvCxnSpPr>
        <p:spPr>
          <a:xfrm rot="16200000" flipH="1">
            <a:off x="4778644" y="846884"/>
            <a:ext cx="428446" cy="96903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97834BA9-D215-29C0-F86F-60C23E7F794E}"/>
              </a:ext>
            </a:extLst>
          </p:cNvPr>
          <p:cNvCxnSpPr>
            <a:cxnSpLocks/>
            <a:stCxn id="19" idx="2"/>
            <a:endCxn id="21" idx="0"/>
          </p:cNvCxnSpPr>
          <p:nvPr/>
        </p:nvCxnSpPr>
        <p:spPr>
          <a:xfrm rot="5400000">
            <a:off x="5746241" y="848322"/>
            <a:ext cx="428446" cy="96615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5220E08D-C19B-AA72-BF69-249596298F28}"/>
              </a:ext>
            </a:extLst>
          </p:cNvPr>
          <p:cNvCxnSpPr>
            <a:cxnSpLocks/>
            <a:stCxn id="20" idx="2"/>
            <a:endCxn id="19" idx="3"/>
          </p:cNvCxnSpPr>
          <p:nvPr/>
        </p:nvCxnSpPr>
        <p:spPr>
          <a:xfrm flipH="1">
            <a:off x="7158097" y="867012"/>
            <a:ext cx="13881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8C9AEB7B-CC3F-FD26-2BB8-BCB61892278D}"/>
              </a:ext>
            </a:extLst>
          </p:cNvPr>
          <p:cNvSpPr txBox="1"/>
          <p:nvPr/>
        </p:nvSpPr>
        <p:spPr>
          <a:xfrm>
            <a:off x="7370206" y="932512"/>
            <a:ext cx="1217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上传专有知识库，</a:t>
            </a:r>
            <a:endParaRPr lang="en-US" altLang="zh-CN" sz="900" dirty="0"/>
          </a:p>
          <a:p>
            <a:r>
              <a:rPr lang="zh-CN" altLang="en-US" sz="900" dirty="0"/>
              <a:t>通过</a:t>
            </a:r>
            <a:r>
              <a:rPr lang="en-US" altLang="zh-CN" sz="900" dirty="0"/>
              <a:t>md5</a:t>
            </a:r>
            <a:r>
              <a:rPr lang="zh-CN" altLang="en-US" sz="900" dirty="0"/>
              <a:t>哈希值去重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3362EFD9-4DA2-6CB5-CEE8-16538B5D4B2A}"/>
              </a:ext>
            </a:extLst>
          </p:cNvPr>
          <p:cNvSpPr/>
          <p:nvPr/>
        </p:nvSpPr>
        <p:spPr>
          <a:xfrm>
            <a:off x="8494103" y="1545624"/>
            <a:ext cx="1429109" cy="500332"/>
          </a:xfrm>
          <a:prstGeom prst="rect">
            <a:avLst/>
          </a:prstGeom>
          <a:solidFill>
            <a:srgbClr val="A6ADB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历史对话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B324831-AED2-0C19-3FF1-A18C6B0967F8}"/>
              </a:ext>
            </a:extLst>
          </p:cNvPr>
          <p:cNvSpPr/>
          <p:nvPr/>
        </p:nvSpPr>
        <p:spPr>
          <a:xfrm>
            <a:off x="1283160" y="1545624"/>
            <a:ext cx="1429109" cy="500332"/>
          </a:xfrm>
          <a:prstGeom prst="rect">
            <a:avLst/>
          </a:prstGeom>
          <a:solidFill>
            <a:srgbClr val="A6ADB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当前问题</a:t>
            </a:r>
            <a:endParaRPr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9F70966-EE08-3E3C-6E12-5A8478229483}"/>
              </a:ext>
            </a:extLst>
          </p:cNvPr>
          <p:cNvSpPr/>
          <p:nvPr/>
        </p:nvSpPr>
        <p:spPr>
          <a:xfrm>
            <a:off x="4762829" y="2681436"/>
            <a:ext cx="1429109" cy="500332"/>
          </a:xfrm>
          <a:prstGeom prst="rect">
            <a:avLst/>
          </a:prstGeom>
          <a:solidFill>
            <a:srgbClr val="7E99F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检索结果格式化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59E4667B-AA92-D7BE-00D7-04180478ED86}"/>
              </a:ext>
            </a:extLst>
          </p:cNvPr>
          <p:cNvSpPr/>
          <p:nvPr/>
        </p:nvSpPr>
        <p:spPr>
          <a:xfrm>
            <a:off x="6549597" y="2681182"/>
            <a:ext cx="1429109" cy="500332"/>
          </a:xfrm>
          <a:prstGeom prst="rect">
            <a:avLst/>
          </a:prstGeom>
          <a:solidFill>
            <a:srgbClr val="7E99F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候选上下文块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D3FBB7B2-333F-4EBC-9B46-C5C9A23179EC}"/>
              </a:ext>
            </a:extLst>
          </p:cNvPr>
          <p:cNvCxnSpPr>
            <a:cxnSpLocks/>
            <a:stCxn id="21" idx="2"/>
            <a:endCxn id="49" idx="0"/>
          </p:cNvCxnSpPr>
          <p:nvPr/>
        </p:nvCxnSpPr>
        <p:spPr>
          <a:xfrm>
            <a:off x="5477384" y="2045956"/>
            <a:ext cx="0" cy="6354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73A379B9-4F68-6A65-E021-30E9DF170AF0}"/>
              </a:ext>
            </a:extLst>
          </p:cNvPr>
          <p:cNvSpPr/>
          <p:nvPr/>
        </p:nvSpPr>
        <p:spPr>
          <a:xfrm>
            <a:off x="1283159" y="4609485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总提示词组装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65" name="连接符: 肘形 64">
            <a:extLst>
              <a:ext uri="{FF2B5EF4-FFF2-40B4-BE49-F238E27FC236}">
                <a16:creationId xmlns:a16="http://schemas.microsoft.com/office/drawing/2014/main" id="{7C8E54EE-CC1A-BC1F-D3A8-3439D69CDF67}"/>
              </a:ext>
            </a:extLst>
          </p:cNvPr>
          <p:cNvCxnSpPr>
            <a:cxnSpLocks/>
            <a:stCxn id="48" idx="2"/>
          </p:cNvCxnSpPr>
          <p:nvPr/>
        </p:nvCxnSpPr>
        <p:spPr>
          <a:xfrm rot="16200000" flipH="1">
            <a:off x="3588694" y="454977"/>
            <a:ext cx="297710" cy="347966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肘形 67">
            <a:extLst>
              <a:ext uri="{FF2B5EF4-FFF2-40B4-BE49-F238E27FC236}">
                <a16:creationId xmlns:a16="http://schemas.microsoft.com/office/drawing/2014/main" id="{06304B80-4D12-D69F-4CE5-5D09537379AF}"/>
              </a:ext>
            </a:extLst>
          </p:cNvPr>
          <p:cNvCxnSpPr>
            <a:cxnSpLocks/>
            <a:stCxn id="48" idx="2"/>
            <a:endCxn id="60" idx="0"/>
          </p:cNvCxnSpPr>
          <p:nvPr/>
        </p:nvCxnSpPr>
        <p:spPr>
          <a:xfrm rot="5400000">
            <a:off x="715951" y="3327720"/>
            <a:ext cx="2563529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E2E20D44-FAE0-C4D5-C85F-E35EFF38540D}"/>
              </a:ext>
            </a:extLst>
          </p:cNvPr>
          <p:cNvSpPr txBox="1"/>
          <p:nvPr/>
        </p:nvSpPr>
        <p:spPr>
          <a:xfrm>
            <a:off x="3545603" y="2047281"/>
            <a:ext cx="1350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RAG Top-k</a:t>
            </a:r>
            <a:endParaRPr lang="zh-CN" altLang="en-US" b="1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5AC62825-394F-97E0-C98C-4522E69BD00B}"/>
              </a:ext>
            </a:extLst>
          </p:cNvPr>
          <p:cNvSpPr txBox="1"/>
          <p:nvPr/>
        </p:nvSpPr>
        <p:spPr>
          <a:xfrm>
            <a:off x="9218678" y="2343597"/>
            <a:ext cx="309571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100" dirty="0"/>
              <a:t>最近</a:t>
            </a:r>
            <a:r>
              <a:rPr lang="en-US" altLang="zh-CN" sz="1100" dirty="0"/>
              <a:t>10</a:t>
            </a:r>
            <a:r>
              <a:rPr lang="zh-CN" altLang="en-US" sz="1100" dirty="0"/>
              <a:t>条历史消息（过滤工具调用，</a:t>
            </a:r>
            <a:endParaRPr lang="en-US" altLang="zh-CN" sz="1100" dirty="0"/>
          </a:p>
          <a:p>
            <a:r>
              <a:rPr lang="zh-CN" altLang="en-US" sz="1100" dirty="0"/>
              <a:t>伪工具调用文本，拒答类</a:t>
            </a:r>
            <a:r>
              <a:rPr lang="en-US" altLang="zh-CN" sz="1100" dirty="0"/>
              <a:t>assistant</a:t>
            </a:r>
            <a:r>
              <a:rPr lang="zh-CN" altLang="en-US" sz="1100" dirty="0"/>
              <a:t>等无效消息）</a:t>
            </a:r>
          </a:p>
        </p:txBody>
      </p:sp>
      <p:sp>
        <p:nvSpPr>
          <p:cNvPr id="77" name="流程图: 决策 76">
            <a:extLst>
              <a:ext uri="{FF2B5EF4-FFF2-40B4-BE49-F238E27FC236}">
                <a16:creationId xmlns:a16="http://schemas.microsoft.com/office/drawing/2014/main" id="{59F070B1-B1A9-C592-8C47-39BE9FC2EB50}"/>
              </a:ext>
            </a:extLst>
          </p:cNvPr>
          <p:cNvSpPr/>
          <p:nvPr/>
        </p:nvSpPr>
        <p:spPr>
          <a:xfrm>
            <a:off x="5765253" y="4402533"/>
            <a:ext cx="2972352" cy="905450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/>
              <a:t>系统提示词</a:t>
            </a:r>
            <a:r>
              <a:rPr lang="en-US" altLang="zh-CN" sz="1000" dirty="0"/>
              <a:t>token &lt;= </a:t>
            </a:r>
            <a:r>
              <a:rPr lang="zh-CN" altLang="en-US" sz="1000" dirty="0"/>
              <a:t>模型最大输入</a:t>
            </a:r>
            <a:r>
              <a:rPr lang="en-US" altLang="zh-CN" sz="1000" dirty="0"/>
              <a:t>token – </a:t>
            </a:r>
            <a:r>
              <a:rPr lang="zh-CN" altLang="en-US" sz="1000" dirty="0"/>
              <a:t>当前问题</a:t>
            </a:r>
            <a:r>
              <a:rPr lang="en-US" altLang="zh-CN" sz="1000" dirty="0"/>
              <a:t>token</a:t>
            </a:r>
            <a:r>
              <a:rPr lang="zh-CN" altLang="en-US" sz="1000" dirty="0"/>
              <a:t>？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53D7F5B1-46C8-3C55-95BF-713701240966}"/>
              </a:ext>
            </a:extLst>
          </p:cNvPr>
          <p:cNvSpPr/>
          <p:nvPr/>
        </p:nvSpPr>
        <p:spPr>
          <a:xfrm>
            <a:off x="6549597" y="3431679"/>
            <a:ext cx="1429109" cy="500332"/>
          </a:xfrm>
          <a:prstGeom prst="rect">
            <a:avLst/>
          </a:prstGeom>
          <a:solidFill>
            <a:srgbClr val="7E99F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选择系统提示词模板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995DCF5F-7F3A-3755-4C62-901CDB31A4F1}"/>
              </a:ext>
            </a:extLst>
          </p:cNvPr>
          <p:cNvCxnSpPr>
            <a:cxnSpLocks/>
            <a:stCxn id="78" idx="2"/>
            <a:endCxn id="77" idx="0"/>
          </p:cNvCxnSpPr>
          <p:nvPr/>
        </p:nvCxnSpPr>
        <p:spPr>
          <a:xfrm flipH="1">
            <a:off x="7251429" y="3932011"/>
            <a:ext cx="12723" cy="4705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连接符: 肘形 99">
            <a:extLst>
              <a:ext uri="{FF2B5EF4-FFF2-40B4-BE49-F238E27FC236}">
                <a16:creationId xmlns:a16="http://schemas.microsoft.com/office/drawing/2014/main" id="{355F3C32-A54F-6ED2-4A7B-7F54D81B43CA}"/>
              </a:ext>
            </a:extLst>
          </p:cNvPr>
          <p:cNvCxnSpPr>
            <a:cxnSpLocks/>
            <a:stCxn id="46" idx="2"/>
            <a:endCxn id="50" idx="3"/>
          </p:cNvCxnSpPr>
          <p:nvPr/>
        </p:nvCxnSpPr>
        <p:spPr>
          <a:xfrm rot="5400000">
            <a:off x="8150986" y="1873676"/>
            <a:ext cx="885392" cy="12299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315E46C8-76EE-F867-2159-7A1842293DA7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 flipV="1">
            <a:off x="6191938" y="2931348"/>
            <a:ext cx="357659" cy="2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7C90709B-1734-4A0C-AF04-D8BFF16DC511}"/>
              </a:ext>
            </a:extLst>
          </p:cNvPr>
          <p:cNvSpPr txBox="1"/>
          <p:nvPr/>
        </p:nvSpPr>
        <p:spPr>
          <a:xfrm>
            <a:off x="5477383" y="3973512"/>
            <a:ext cx="185328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/>
              <a:t>用</a:t>
            </a:r>
            <a:r>
              <a:rPr lang="en-US" altLang="zh-CN" sz="900" dirty="0"/>
              <a:t>TF-IDF</a:t>
            </a:r>
            <a:r>
              <a:rPr lang="zh-CN" altLang="en-US" sz="900" dirty="0"/>
              <a:t>方法给每条结果打分，从候选上下文块中抽出得分最高的放入系统提示词</a:t>
            </a:r>
          </a:p>
        </p:txBody>
      </p:sp>
      <p:cxnSp>
        <p:nvCxnSpPr>
          <p:cNvPr id="116" name="连接符: 肘形 115">
            <a:extLst>
              <a:ext uri="{FF2B5EF4-FFF2-40B4-BE49-F238E27FC236}">
                <a16:creationId xmlns:a16="http://schemas.microsoft.com/office/drawing/2014/main" id="{2CAEBD8D-1643-BD97-76A1-95AF124532CF}"/>
              </a:ext>
            </a:extLst>
          </p:cNvPr>
          <p:cNvCxnSpPr>
            <a:cxnSpLocks/>
            <a:stCxn id="77" idx="3"/>
          </p:cNvCxnSpPr>
          <p:nvPr/>
        </p:nvCxnSpPr>
        <p:spPr>
          <a:xfrm flipH="1" flipV="1">
            <a:off x="7251429" y="4073517"/>
            <a:ext cx="1486176" cy="781741"/>
          </a:xfrm>
          <a:prstGeom prst="bentConnector3">
            <a:avLst>
              <a:gd name="adj1" fmla="val -1538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连接符: 肘形 122">
            <a:extLst>
              <a:ext uri="{FF2B5EF4-FFF2-40B4-BE49-F238E27FC236}">
                <a16:creationId xmlns:a16="http://schemas.microsoft.com/office/drawing/2014/main" id="{22FA7170-AEFF-945F-CCC0-65EA3A0A6CF2}"/>
              </a:ext>
            </a:extLst>
          </p:cNvPr>
          <p:cNvCxnSpPr>
            <a:cxnSpLocks/>
            <a:stCxn id="77" idx="1"/>
            <a:endCxn id="60" idx="3"/>
          </p:cNvCxnSpPr>
          <p:nvPr/>
        </p:nvCxnSpPr>
        <p:spPr>
          <a:xfrm rot="10800000" flipV="1">
            <a:off x="2712269" y="4855257"/>
            <a:ext cx="3052985" cy="439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文本框 125">
            <a:extLst>
              <a:ext uri="{FF2B5EF4-FFF2-40B4-BE49-F238E27FC236}">
                <a16:creationId xmlns:a16="http://schemas.microsoft.com/office/drawing/2014/main" id="{9BA0E96E-0B94-8EA9-B091-75B06AE181ED}"/>
              </a:ext>
            </a:extLst>
          </p:cNvPr>
          <p:cNvSpPr txBox="1"/>
          <p:nvPr/>
        </p:nvSpPr>
        <p:spPr>
          <a:xfrm>
            <a:off x="3312866" y="4538788"/>
            <a:ext cx="18517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否，去掉最近插入的候选结果</a:t>
            </a: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9FBA00BD-977D-09E5-B99E-5657AF158690}"/>
              </a:ext>
            </a:extLst>
          </p:cNvPr>
          <p:cNvSpPr txBox="1"/>
          <p:nvPr/>
        </p:nvSpPr>
        <p:spPr>
          <a:xfrm>
            <a:off x="8962485" y="4309525"/>
            <a:ext cx="312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是</a:t>
            </a:r>
          </a:p>
        </p:txBody>
      </p:sp>
      <p:cxnSp>
        <p:nvCxnSpPr>
          <p:cNvPr id="143" name="直接箭头连接符 142">
            <a:extLst>
              <a:ext uri="{FF2B5EF4-FFF2-40B4-BE49-F238E27FC236}">
                <a16:creationId xmlns:a16="http://schemas.microsoft.com/office/drawing/2014/main" id="{E55049D1-24C6-F93E-B858-EEF4B1731D49}"/>
              </a:ext>
            </a:extLst>
          </p:cNvPr>
          <p:cNvCxnSpPr>
            <a:cxnSpLocks/>
            <a:stCxn id="50" idx="2"/>
            <a:endCxn id="78" idx="0"/>
          </p:cNvCxnSpPr>
          <p:nvPr/>
        </p:nvCxnSpPr>
        <p:spPr>
          <a:xfrm>
            <a:off x="7264152" y="3181514"/>
            <a:ext cx="0" cy="250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矩形 148">
            <a:extLst>
              <a:ext uri="{FF2B5EF4-FFF2-40B4-BE49-F238E27FC236}">
                <a16:creationId xmlns:a16="http://schemas.microsoft.com/office/drawing/2014/main" id="{184F60D9-C326-B710-4350-1CB49BA93402}"/>
              </a:ext>
            </a:extLst>
          </p:cNvPr>
          <p:cNvSpPr/>
          <p:nvPr/>
        </p:nvSpPr>
        <p:spPr>
          <a:xfrm>
            <a:off x="32928" y="5439424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</a:rPr>
              <a:t>MCP</a:t>
            </a:r>
            <a:r>
              <a:rPr lang="zh-CN" altLang="en-US" sz="1400" b="1" dirty="0">
                <a:solidFill>
                  <a:schemeClr val="tx1"/>
                </a:solidFill>
              </a:rPr>
              <a:t>工具</a:t>
            </a:r>
            <a:endParaRPr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CA361872-925E-E0A8-7281-742A0AA1E705}"/>
              </a:ext>
            </a:extLst>
          </p:cNvPr>
          <p:cNvSpPr/>
          <p:nvPr/>
        </p:nvSpPr>
        <p:spPr>
          <a:xfrm>
            <a:off x="1283158" y="5928411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询问模型是否要调用某些工具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152" name="连接符: 肘形 151">
            <a:extLst>
              <a:ext uri="{FF2B5EF4-FFF2-40B4-BE49-F238E27FC236}">
                <a16:creationId xmlns:a16="http://schemas.microsoft.com/office/drawing/2014/main" id="{E6FB5ECC-88EF-44C0-DF4F-CD4B465713C7}"/>
              </a:ext>
            </a:extLst>
          </p:cNvPr>
          <p:cNvCxnSpPr>
            <a:cxnSpLocks/>
            <a:stCxn id="60" idx="2"/>
            <a:endCxn id="150" idx="0"/>
          </p:cNvCxnSpPr>
          <p:nvPr/>
        </p:nvCxnSpPr>
        <p:spPr>
          <a:xfrm rot="5400000">
            <a:off x="1588417" y="5519114"/>
            <a:ext cx="818594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连接符: 肘形 154">
            <a:extLst>
              <a:ext uri="{FF2B5EF4-FFF2-40B4-BE49-F238E27FC236}">
                <a16:creationId xmlns:a16="http://schemas.microsoft.com/office/drawing/2014/main" id="{F306B29E-3968-7713-B552-C505F221C027}"/>
              </a:ext>
            </a:extLst>
          </p:cNvPr>
          <p:cNvCxnSpPr>
            <a:cxnSpLocks/>
            <a:stCxn id="149" idx="3"/>
            <a:endCxn id="150" idx="0"/>
          </p:cNvCxnSpPr>
          <p:nvPr/>
        </p:nvCxnSpPr>
        <p:spPr>
          <a:xfrm>
            <a:off x="1145501" y="5620581"/>
            <a:ext cx="852212" cy="30783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流程图: 决策 156">
            <a:extLst>
              <a:ext uri="{FF2B5EF4-FFF2-40B4-BE49-F238E27FC236}">
                <a16:creationId xmlns:a16="http://schemas.microsoft.com/office/drawing/2014/main" id="{B594DA1C-38C8-8863-9B51-0662E6DFFA9D}"/>
              </a:ext>
            </a:extLst>
          </p:cNvPr>
          <p:cNvSpPr/>
          <p:nvPr/>
        </p:nvSpPr>
        <p:spPr>
          <a:xfrm>
            <a:off x="5777975" y="5732550"/>
            <a:ext cx="2972352" cy="905450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/>
              <a:t>模型没有要调用的工具或者迭代次数超过最大值</a:t>
            </a:r>
          </a:p>
        </p:txBody>
      </p:sp>
      <p:cxnSp>
        <p:nvCxnSpPr>
          <p:cNvPr id="162" name="直接箭头连接符 161">
            <a:extLst>
              <a:ext uri="{FF2B5EF4-FFF2-40B4-BE49-F238E27FC236}">
                <a16:creationId xmlns:a16="http://schemas.microsoft.com/office/drawing/2014/main" id="{BEE98F4D-C5D1-DB50-9CEF-96958F0A74A3}"/>
              </a:ext>
            </a:extLst>
          </p:cNvPr>
          <p:cNvCxnSpPr>
            <a:cxnSpLocks/>
            <a:stCxn id="150" idx="3"/>
            <a:endCxn id="157" idx="1"/>
          </p:cNvCxnSpPr>
          <p:nvPr/>
        </p:nvCxnSpPr>
        <p:spPr>
          <a:xfrm>
            <a:off x="2712267" y="6178577"/>
            <a:ext cx="3065708" cy="66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矩形 165">
            <a:extLst>
              <a:ext uri="{FF2B5EF4-FFF2-40B4-BE49-F238E27FC236}">
                <a16:creationId xmlns:a16="http://schemas.microsoft.com/office/drawing/2014/main" id="{C6F10B8B-8D9C-F235-0762-524D354CAF91}"/>
              </a:ext>
            </a:extLst>
          </p:cNvPr>
          <p:cNvSpPr/>
          <p:nvPr/>
        </p:nvSpPr>
        <p:spPr>
          <a:xfrm>
            <a:off x="3603291" y="5376890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调用模型指定工具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174" name="连接符: 肘形 173">
            <a:extLst>
              <a:ext uri="{FF2B5EF4-FFF2-40B4-BE49-F238E27FC236}">
                <a16:creationId xmlns:a16="http://schemas.microsoft.com/office/drawing/2014/main" id="{FD884590-6C21-6F7A-8E10-9EF73B30BADA}"/>
              </a:ext>
            </a:extLst>
          </p:cNvPr>
          <p:cNvCxnSpPr>
            <a:cxnSpLocks/>
            <a:stCxn id="166" idx="1"/>
            <a:endCxn id="150" idx="0"/>
          </p:cNvCxnSpPr>
          <p:nvPr/>
        </p:nvCxnSpPr>
        <p:spPr>
          <a:xfrm rot="10800000" flipV="1">
            <a:off x="1997713" y="5627055"/>
            <a:ext cx="1605578" cy="30135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连接符: 肘形 177">
            <a:extLst>
              <a:ext uri="{FF2B5EF4-FFF2-40B4-BE49-F238E27FC236}">
                <a16:creationId xmlns:a16="http://schemas.microsoft.com/office/drawing/2014/main" id="{6083F89D-14EC-E422-3A0B-215FEFA7D484}"/>
              </a:ext>
            </a:extLst>
          </p:cNvPr>
          <p:cNvCxnSpPr>
            <a:cxnSpLocks/>
            <a:stCxn id="157" idx="0"/>
            <a:endCxn id="166" idx="3"/>
          </p:cNvCxnSpPr>
          <p:nvPr/>
        </p:nvCxnSpPr>
        <p:spPr>
          <a:xfrm rot="16200000" flipV="1">
            <a:off x="6095529" y="4563927"/>
            <a:ext cx="105494" cy="22317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181E30BD-1C7A-C026-4500-84AB834F574F}"/>
              </a:ext>
            </a:extLst>
          </p:cNvPr>
          <p:cNvSpPr txBox="1"/>
          <p:nvPr/>
        </p:nvSpPr>
        <p:spPr>
          <a:xfrm>
            <a:off x="5891970" y="5385724"/>
            <a:ext cx="4080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dirty="0"/>
              <a:t>否</a:t>
            </a:r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315B0A2D-5EF6-F3B2-74D0-911EC76440D7}"/>
              </a:ext>
            </a:extLst>
          </p:cNvPr>
          <p:cNvSpPr/>
          <p:nvPr/>
        </p:nvSpPr>
        <p:spPr>
          <a:xfrm>
            <a:off x="9878474" y="5935109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最终回答生成请求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186" name="直接箭头连接符 185">
            <a:extLst>
              <a:ext uri="{FF2B5EF4-FFF2-40B4-BE49-F238E27FC236}">
                <a16:creationId xmlns:a16="http://schemas.microsoft.com/office/drawing/2014/main" id="{BACD940E-CD6D-DA03-BCE9-A7219D6B7BC9}"/>
              </a:ext>
            </a:extLst>
          </p:cNvPr>
          <p:cNvCxnSpPr>
            <a:cxnSpLocks/>
            <a:stCxn id="157" idx="3"/>
            <a:endCxn id="184" idx="1"/>
          </p:cNvCxnSpPr>
          <p:nvPr/>
        </p:nvCxnSpPr>
        <p:spPr>
          <a:xfrm>
            <a:off x="8750327" y="6185275"/>
            <a:ext cx="11281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98BCEE27-2E0E-DA9F-ABC4-3AA786827576}"/>
              </a:ext>
            </a:extLst>
          </p:cNvPr>
          <p:cNvSpPr txBox="1"/>
          <p:nvPr/>
        </p:nvSpPr>
        <p:spPr>
          <a:xfrm>
            <a:off x="9117609" y="5928410"/>
            <a:ext cx="312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是</a:t>
            </a:r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F8C57D7C-5FD4-1E60-5F30-94C78EC84510}"/>
              </a:ext>
            </a:extLst>
          </p:cNvPr>
          <p:cNvSpPr txBox="1"/>
          <p:nvPr/>
        </p:nvSpPr>
        <p:spPr>
          <a:xfrm>
            <a:off x="5517647" y="1311807"/>
            <a:ext cx="158729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文本切块以及</a:t>
            </a:r>
            <a:r>
              <a:rPr lang="en-US" altLang="zh-CN" sz="1000" dirty="0"/>
              <a:t>embedding</a:t>
            </a:r>
            <a:endParaRPr lang="zh-CN" altLang="en-US" sz="10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77F089-CDE8-CB8D-589B-924F38557F66}"/>
              </a:ext>
            </a:extLst>
          </p:cNvPr>
          <p:cNvSpPr txBox="1"/>
          <p:nvPr/>
        </p:nvSpPr>
        <p:spPr>
          <a:xfrm>
            <a:off x="2233680" y="5370408"/>
            <a:ext cx="11336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返回工具</a:t>
            </a:r>
            <a:r>
              <a:rPr lang="zh-CN" altLang="en-US" sz="1000" dirty="0"/>
              <a:t>调用</a:t>
            </a:r>
            <a:r>
              <a:rPr lang="zh-CN" altLang="en-US" sz="900" dirty="0"/>
              <a:t>结果</a:t>
            </a:r>
          </a:p>
        </p:txBody>
      </p:sp>
    </p:spTree>
    <p:extLst>
      <p:ext uri="{BB962C8B-B14F-4D97-AF65-F5344CB8AC3E}">
        <p14:creationId xmlns:p14="http://schemas.microsoft.com/office/powerpoint/2010/main" val="1674998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界面组件</a:t>
            </a: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F414388B-16AA-2E69-64D2-4D61204C29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6611" y="93626"/>
            <a:ext cx="8373374" cy="4158340"/>
          </a:xfrm>
          <a:prstGeom prst="rect">
            <a:avLst/>
          </a:prstGeom>
        </p:spPr>
      </p:pic>
      <p:sp>
        <p:nvSpPr>
          <p:cNvPr id="27" name="矩形 26">
            <a:extLst>
              <a:ext uri="{FF2B5EF4-FFF2-40B4-BE49-F238E27FC236}">
                <a16:creationId xmlns:a16="http://schemas.microsoft.com/office/drawing/2014/main" id="{131D6168-41ED-5B40-5EB9-E01FB5BF1DA9}"/>
              </a:ext>
            </a:extLst>
          </p:cNvPr>
          <p:cNvSpPr/>
          <p:nvPr/>
        </p:nvSpPr>
        <p:spPr>
          <a:xfrm>
            <a:off x="92015" y="3258970"/>
            <a:ext cx="1429109" cy="500332"/>
          </a:xfrm>
          <a:prstGeom prst="rect">
            <a:avLst/>
          </a:prstGeom>
          <a:solidFill>
            <a:srgbClr val="8D2F2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界面组件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F172649C-401A-1B50-FDE3-7554F853E893}"/>
              </a:ext>
            </a:extLst>
          </p:cNvPr>
          <p:cNvSpPr/>
          <p:nvPr/>
        </p:nvSpPr>
        <p:spPr>
          <a:xfrm>
            <a:off x="2032949" y="93626"/>
            <a:ext cx="1377355" cy="406849"/>
          </a:xfrm>
          <a:prstGeom prst="rect">
            <a:avLst/>
          </a:prstGeom>
          <a:solidFill>
            <a:srgbClr val="4E19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bg1"/>
                </a:solidFill>
              </a:rPr>
              <a:t>ChatComposer</a:t>
            </a:r>
            <a:endParaRPr lang="en-US" altLang="zh-CN" sz="1400" dirty="0">
              <a:solidFill>
                <a:schemeClr val="bg1"/>
              </a:solidFill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67DF2F-5118-4E47-2CDF-9E9FF8668DF5}"/>
              </a:ext>
            </a:extLst>
          </p:cNvPr>
          <p:cNvSpPr/>
          <p:nvPr/>
        </p:nvSpPr>
        <p:spPr>
          <a:xfrm>
            <a:off x="2032948" y="884962"/>
            <a:ext cx="1377355" cy="406849"/>
          </a:xfrm>
          <a:prstGeom prst="rect">
            <a:avLst/>
          </a:prstGeom>
          <a:solidFill>
            <a:srgbClr val="CB947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ChatPane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22B3E08-EB78-08C5-326C-4DCC92800EFC}"/>
              </a:ext>
            </a:extLst>
          </p:cNvPr>
          <p:cNvSpPr/>
          <p:nvPr/>
        </p:nvSpPr>
        <p:spPr>
          <a:xfrm>
            <a:off x="2032948" y="1676298"/>
            <a:ext cx="1377355" cy="406849"/>
          </a:xfrm>
          <a:prstGeom prst="rect">
            <a:avLst/>
          </a:prstGeom>
          <a:solidFill>
            <a:srgbClr val="8CBF8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CreateProfileDialog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938278F-B1F1-9277-696E-CD2562195646}"/>
              </a:ext>
            </a:extLst>
          </p:cNvPr>
          <p:cNvSpPr/>
          <p:nvPr/>
        </p:nvSpPr>
        <p:spPr>
          <a:xfrm>
            <a:off x="2032947" y="2467634"/>
            <a:ext cx="1377355" cy="406849"/>
          </a:xfrm>
          <a:prstGeom prst="rect">
            <a:avLst/>
          </a:prstGeom>
          <a:solidFill>
            <a:srgbClr val="3E608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KnowledgeUploader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EB570DCF-1ED0-2956-EAC8-CC73A38878BD}"/>
              </a:ext>
            </a:extLst>
          </p:cNvPr>
          <p:cNvSpPr/>
          <p:nvPr/>
        </p:nvSpPr>
        <p:spPr>
          <a:xfrm>
            <a:off x="2032946" y="3258970"/>
            <a:ext cx="1377355" cy="406849"/>
          </a:xfrm>
          <a:prstGeom prst="rect">
            <a:avLst/>
          </a:prstGeom>
          <a:solidFill>
            <a:srgbClr val="90929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MessageList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67CBE68-6475-4662-B7F6-82055B4D8291}"/>
              </a:ext>
            </a:extLst>
          </p:cNvPr>
          <p:cNvSpPr/>
          <p:nvPr/>
        </p:nvSpPr>
        <p:spPr>
          <a:xfrm>
            <a:off x="2032945" y="4050306"/>
            <a:ext cx="1377355" cy="406849"/>
          </a:xfrm>
          <a:prstGeom prst="rect">
            <a:avLst/>
          </a:prstGeom>
          <a:solidFill>
            <a:srgbClr val="4E19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bg1"/>
                </a:solidFill>
              </a:rPr>
              <a:t>ProfileSidebar</a:t>
            </a:r>
            <a:endParaRPr lang="en-US" altLang="zh-CN" sz="1400" dirty="0">
              <a:solidFill>
                <a:schemeClr val="bg1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AB1548B-2844-3A12-6925-3D7496926810}"/>
              </a:ext>
            </a:extLst>
          </p:cNvPr>
          <p:cNvSpPr/>
          <p:nvPr/>
        </p:nvSpPr>
        <p:spPr>
          <a:xfrm>
            <a:off x="2032945" y="4841642"/>
            <a:ext cx="1377355" cy="406849"/>
          </a:xfrm>
          <a:prstGeom prst="rect">
            <a:avLst/>
          </a:prstGeom>
          <a:solidFill>
            <a:srgbClr val="CB947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SettingSheet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B7B7307-D365-9AF4-147B-FBF2F65F8F50}"/>
              </a:ext>
            </a:extLst>
          </p:cNvPr>
          <p:cNvSpPr/>
          <p:nvPr/>
        </p:nvSpPr>
        <p:spPr>
          <a:xfrm>
            <a:off x="2032944" y="5632978"/>
            <a:ext cx="1377355" cy="406849"/>
          </a:xfrm>
          <a:prstGeom prst="rect">
            <a:avLst/>
          </a:prstGeom>
          <a:solidFill>
            <a:srgbClr val="8CBF8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SteamDealsCard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0934B3B5-945A-C2A5-8A3B-FCC92968ADEA}"/>
              </a:ext>
            </a:extLst>
          </p:cNvPr>
          <p:cNvSpPr/>
          <p:nvPr/>
        </p:nvSpPr>
        <p:spPr>
          <a:xfrm>
            <a:off x="2032944" y="6424314"/>
            <a:ext cx="1377355" cy="406849"/>
          </a:xfrm>
          <a:prstGeom prst="rect">
            <a:avLst/>
          </a:prstGeom>
          <a:solidFill>
            <a:srgbClr val="3E608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SteamOverviewCard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51" name="左大括号 50">
            <a:extLst>
              <a:ext uri="{FF2B5EF4-FFF2-40B4-BE49-F238E27FC236}">
                <a16:creationId xmlns:a16="http://schemas.microsoft.com/office/drawing/2014/main" id="{D0321679-F6FC-F193-B86D-6924443426FD}"/>
              </a:ext>
            </a:extLst>
          </p:cNvPr>
          <p:cNvSpPr/>
          <p:nvPr/>
        </p:nvSpPr>
        <p:spPr>
          <a:xfrm>
            <a:off x="1610265" y="253042"/>
            <a:ext cx="373810" cy="6377796"/>
          </a:xfrm>
          <a:prstGeom prst="leftBrace">
            <a:avLst>
              <a:gd name="adj1" fmla="val 8333"/>
              <a:gd name="adj2" fmla="val 51113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5" name="图片 54">
            <a:extLst>
              <a:ext uri="{FF2B5EF4-FFF2-40B4-BE49-F238E27FC236}">
                <a16:creationId xmlns:a16="http://schemas.microsoft.com/office/drawing/2014/main" id="{47FC4268-B029-7E07-B7D3-83C5BC5BCD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7928" y="4376640"/>
            <a:ext cx="3402694" cy="2344193"/>
          </a:xfrm>
          <a:prstGeom prst="rect">
            <a:avLst/>
          </a:prstGeom>
        </p:spPr>
      </p:pic>
      <p:pic>
        <p:nvPicPr>
          <p:cNvPr id="57" name="图片 56">
            <a:extLst>
              <a:ext uri="{FF2B5EF4-FFF2-40B4-BE49-F238E27FC236}">
                <a16:creationId xmlns:a16="http://schemas.microsoft.com/office/drawing/2014/main" id="{6B2C3948-B250-9C36-9669-C5F0D50B50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3074" y="4375407"/>
            <a:ext cx="3402694" cy="2345426"/>
          </a:xfrm>
          <a:prstGeom prst="rect">
            <a:avLst/>
          </a:prstGeom>
        </p:spPr>
      </p:pic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C402A458-501F-9B5A-A98B-358D119C2524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3410304" y="297051"/>
            <a:ext cx="1431990" cy="36308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D4507F96-F803-C46C-5701-1CA8DBE040AE}"/>
              </a:ext>
            </a:extLst>
          </p:cNvPr>
          <p:cNvCxnSpPr>
            <a:cxnSpLocks/>
            <a:stCxn id="40" idx="3"/>
          </p:cNvCxnSpPr>
          <p:nvPr/>
        </p:nvCxnSpPr>
        <p:spPr>
          <a:xfrm flipV="1">
            <a:off x="3410303" y="212785"/>
            <a:ext cx="1506754" cy="8756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E7AE2AD6-09E3-6EF3-14B3-12BB3CDD649F}"/>
              </a:ext>
            </a:extLst>
          </p:cNvPr>
          <p:cNvCxnSpPr>
            <a:cxnSpLocks/>
            <a:stCxn id="42" idx="3"/>
          </p:cNvCxnSpPr>
          <p:nvPr/>
        </p:nvCxnSpPr>
        <p:spPr>
          <a:xfrm>
            <a:off x="3410303" y="1879723"/>
            <a:ext cx="1431991" cy="2669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5B7A5205-704B-B89F-BAD8-CAF00B5EA9BC}"/>
              </a:ext>
            </a:extLst>
          </p:cNvPr>
          <p:cNvCxnSpPr>
            <a:cxnSpLocks/>
            <a:stCxn id="43" idx="3"/>
          </p:cNvCxnSpPr>
          <p:nvPr/>
        </p:nvCxnSpPr>
        <p:spPr>
          <a:xfrm flipV="1">
            <a:off x="3410302" y="701615"/>
            <a:ext cx="2001336" cy="19694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A96452FE-3689-919B-CC17-0AD1B3A6019C}"/>
              </a:ext>
            </a:extLst>
          </p:cNvPr>
          <p:cNvCxnSpPr>
            <a:cxnSpLocks/>
            <a:stCxn id="45" idx="3"/>
          </p:cNvCxnSpPr>
          <p:nvPr/>
        </p:nvCxnSpPr>
        <p:spPr>
          <a:xfrm flipV="1">
            <a:off x="3410301" y="2016358"/>
            <a:ext cx="3628854" cy="14460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5467F9B8-B7A2-EC90-F48E-0336C5110036}"/>
              </a:ext>
            </a:extLst>
          </p:cNvPr>
          <p:cNvCxnSpPr>
            <a:cxnSpLocks/>
            <a:stCxn id="46" idx="3"/>
          </p:cNvCxnSpPr>
          <p:nvPr/>
        </p:nvCxnSpPr>
        <p:spPr>
          <a:xfrm flipV="1">
            <a:off x="3410300" y="3665819"/>
            <a:ext cx="678627" cy="587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985CEFD2-477E-6D1C-862E-0A9AD1301AFA}"/>
              </a:ext>
            </a:extLst>
          </p:cNvPr>
          <p:cNvCxnSpPr>
            <a:cxnSpLocks/>
            <a:stCxn id="48" idx="3"/>
          </p:cNvCxnSpPr>
          <p:nvPr/>
        </p:nvCxnSpPr>
        <p:spPr>
          <a:xfrm flipV="1">
            <a:off x="3410300" y="4687019"/>
            <a:ext cx="5825715" cy="3580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87F8C1D4-B80F-F49C-BDF5-987898BDD839}"/>
              </a:ext>
            </a:extLst>
          </p:cNvPr>
          <p:cNvCxnSpPr>
            <a:cxnSpLocks/>
            <a:stCxn id="49" idx="3"/>
          </p:cNvCxnSpPr>
          <p:nvPr/>
        </p:nvCxnSpPr>
        <p:spPr>
          <a:xfrm flipV="1">
            <a:off x="3410299" y="3036498"/>
            <a:ext cx="7798290" cy="27999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48488FE1-9B51-8218-3FA7-4514F2FBAEAF}"/>
              </a:ext>
            </a:extLst>
          </p:cNvPr>
          <p:cNvCxnSpPr>
            <a:cxnSpLocks/>
            <a:stCxn id="50" idx="3"/>
          </p:cNvCxnSpPr>
          <p:nvPr/>
        </p:nvCxnSpPr>
        <p:spPr>
          <a:xfrm flipV="1">
            <a:off x="3410299" y="437072"/>
            <a:ext cx="7855799" cy="61906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466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27382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不足和未来工作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C45BED0-BB45-EBD2-7872-FCC75BEBE160}"/>
              </a:ext>
            </a:extLst>
          </p:cNvPr>
          <p:cNvSpPr txBox="1"/>
          <p:nvPr/>
        </p:nvSpPr>
        <p:spPr>
          <a:xfrm>
            <a:off x="144178" y="782128"/>
            <a:ext cx="10905550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dirty="0"/>
              <a:t>完善上下文 </a:t>
            </a:r>
            <a:r>
              <a:rPr lang="en-US" altLang="zh-CN" dirty="0"/>
              <a:t>token </a:t>
            </a:r>
            <a:r>
              <a:rPr lang="zh-CN" altLang="en-US" dirty="0"/>
              <a:t>管理：当前 </a:t>
            </a:r>
            <a:r>
              <a:rPr lang="en-US" altLang="zh-CN" dirty="0"/>
              <a:t>token </a:t>
            </a:r>
            <a:r>
              <a:rPr lang="zh-CN" altLang="en-US" dirty="0"/>
              <a:t>预算主要覆盖用户问题、历史消息与知识库上下文，后续可将工具</a:t>
            </a:r>
            <a:endParaRPr lang="en-US" altLang="zh-CN" dirty="0"/>
          </a:p>
          <a:p>
            <a:r>
              <a:rPr lang="zh-CN" altLang="en-US" dirty="0"/>
              <a:t>定义、工具调用参数和工具返回结果也纳入统一预算控制。</a:t>
            </a:r>
          </a:p>
          <a:p>
            <a:endParaRPr lang="zh-CN" altLang="en-US" dirty="0"/>
          </a:p>
          <a:p>
            <a:r>
              <a:rPr lang="en-US" altLang="zh-CN" dirty="0"/>
              <a:t>2. </a:t>
            </a:r>
            <a:r>
              <a:rPr lang="zh-CN" altLang="en-US" dirty="0"/>
              <a:t>增强 </a:t>
            </a:r>
            <a:r>
              <a:rPr lang="en-US" altLang="zh-CN" dirty="0"/>
              <a:t>Agent </a:t>
            </a:r>
            <a:r>
              <a:rPr lang="zh-CN" altLang="en-US" dirty="0"/>
              <a:t>推理框架：后续可引入 </a:t>
            </a:r>
            <a:r>
              <a:rPr lang="en-US" altLang="zh-CN" dirty="0" err="1"/>
              <a:t>ReAct</a:t>
            </a:r>
            <a:r>
              <a:rPr lang="zh-CN" altLang="en-US" dirty="0"/>
              <a:t>、</a:t>
            </a:r>
            <a:r>
              <a:rPr lang="en-US" altLang="zh-CN" dirty="0" err="1"/>
              <a:t>CoT</a:t>
            </a:r>
            <a:r>
              <a:rPr lang="en-US" altLang="zh-CN" dirty="0"/>
              <a:t> </a:t>
            </a:r>
            <a:r>
              <a:rPr lang="zh-CN" altLang="en-US" dirty="0"/>
              <a:t>或更结构化的多步规划机制，提高复杂任务下的工具选</a:t>
            </a:r>
            <a:endParaRPr lang="en-US" altLang="zh-CN" dirty="0"/>
          </a:p>
          <a:p>
            <a:r>
              <a:rPr lang="zh-CN" altLang="en-US" dirty="0"/>
              <a:t>择、调用顺序和错误恢复能力。</a:t>
            </a:r>
          </a:p>
          <a:p>
            <a:endParaRPr lang="zh-CN" altLang="en-US" dirty="0"/>
          </a:p>
          <a:p>
            <a:r>
              <a:rPr lang="en-US" altLang="zh-CN" dirty="0"/>
              <a:t>3. </a:t>
            </a:r>
            <a:r>
              <a:rPr lang="zh-CN" altLang="en-US" dirty="0"/>
              <a:t>提升本地数据安全：对本地保存的 </a:t>
            </a:r>
            <a:r>
              <a:rPr lang="en-US" altLang="zh-CN" dirty="0"/>
              <a:t>API Key</a:t>
            </a:r>
            <a:r>
              <a:rPr lang="zh-CN" altLang="en-US" dirty="0"/>
              <a:t>、</a:t>
            </a:r>
            <a:r>
              <a:rPr lang="en-US" altLang="zh-CN" dirty="0"/>
              <a:t>Steam Key</a:t>
            </a:r>
            <a:r>
              <a:rPr lang="zh-CN" altLang="en-US" dirty="0"/>
              <a:t>、用户配置和聊天历史进行加密存储，并完善敏</a:t>
            </a:r>
            <a:endParaRPr lang="en-US" altLang="zh-CN" dirty="0"/>
          </a:p>
          <a:p>
            <a:r>
              <a:rPr lang="zh-CN" altLang="en-US" dirty="0"/>
              <a:t>感日志脱敏机制。</a:t>
            </a:r>
          </a:p>
          <a:p>
            <a:endParaRPr lang="zh-CN" altLang="en-US" dirty="0"/>
          </a:p>
          <a:p>
            <a:r>
              <a:rPr lang="en-US" altLang="zh-CN" dirty="0"/>
              <a:t>4. </a:t>
            </a:r>
            <a:r>
              <a:rPr lang="zh-CN" altLang="en-US" dirty="0"/>
              <a:t>完善工程化能力：补充自动化测试、端到端测试、</a:t>
            </a:r>
            <a:r>
              <a:rPr lang="en-US" altLang="zh-CN" dirty="0"/>
              <a:t>CI/CD</a:t>
            </a:r>
            <a:r>
              <a:rPr lang="zh-CN" altLang="en-US" dirty="0"/>
              <a:t>、</a:t>
            </a:r>
            <a:r>
              <a:rPr lang="en-US" altLang="zh-CN" dirty="0"/>
              <a:t>Docker Compose </a:t>
            </a:r>
            <a:r>
              <a:rPr lang="zh-CN" altLang="en-US" dirty="0"/>
              <a:t>一键启动，以及前后端与 </a:t>
            </a:r>
            <a:endParaRPr lang="en-US" altLang="zh-CN" dirty="0"/>
          </a:p>
          <a:p>
            <a:r>
              <a:rPr lang="en-US" altLang="zh-CN" dirty="0"/>
              <a:t>MCP Server </a:t>
            </a:r>
            <a:r>
              <a:rPr lang="zh-CN" altLang="en-US" dirty="0"/>
              <a:t>的健康检查和日志面板。</a:t>
            </a:r>
          </a:p>
        </p:txBody>
      </p:sp>
    </p:spTree>
    <p:extLst>
      <p:ext uri="{BB962C8B-B14F-4D97-AF65-F5344CB8AC3E}">
        <p14:creationId xmlns:p14="http://schemas.microsoft.com/office/powerpoint/2010/main" val="16613507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分工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2FAB2B6-64A7-D176-A4A0-EB5162B4747D}"/>
              </a:ext>
            </a:extLst>
          </p:cNvPr>
          <p:cNvSpPr txBox="1"/>
          <p:nvPr/>
        </p:nvSpPr>
        <p:spPr>
          <a:xfrm>
            <a:off x="144178" y="897147"/>
            <a:ext cx="3092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卢昭阳：前后端，</a:t>
            </a:r>
            <a:r>
              <a:rPr lang="en-US" altLang="zh-CN" dirty="0"/>
              <a:t>Agent</a:t>
            </a:r>
            <a:r>
              <a:rPr lang="zh-CN" altLang="en-US" dirty="0"/>
              <a:t>开发</a:t>
            </a:r>
          </a:p>
        </p:txBody>
      </p:sp>
    </p:spTree>
    <p:extLst>
      <p:ext uri="{BB962C8B-B14F-4D97-AF65-F5344CB8AC3E}">
        <p14:creationId xmlns:p14="http://schemas.microsoft.com/office/powerpoint/2010/main" val="1298528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679</Words>
  <Application>Microsoft Office PowerPoint</Application>
  <PresentationFormat>宽屏</PresentationFormat>
  <Paragraphs>108</Paragraphs>
  <Slides>6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0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卢昭阳</dc:creator>
  <cp:lastModifiedBy>卢昭阳</cp:lastModifiedBy>
  <cp:revision>10</cp:revision>
  <dcterms:created xsi:type="dcterms:W3CDTF">2026-06-15T07:34:43Z</dcterms:created>
  <dcterms:modified xsi:type="dcterms:W3CDTF">2026-06-17T01:28:51Z</dcterms:modified>
</cp:coreProperties>
</file>